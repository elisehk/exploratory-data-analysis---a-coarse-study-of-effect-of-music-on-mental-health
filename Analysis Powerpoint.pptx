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m" ContentType="application/vnd.ms-excel.sheet.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Lst>
  <p:sldSz cx="12192000" cy="6858000"/>
  <p:notesSz cx="6858000" cy="9144000"/>
  <p:embeddedFontLst>
    <p:embeddedFont>
      <p:font typeface="Noto Sans Symbols" panose="020B0604020202020204" charset="0"/>
      <p:regular r:id="rId26"/>
      <p:bold r:id="rId27"/>
    </p:embeddedFont>
    <p:embeddedFont>
      <p:font typeface="Play" panose="020B0604020202020204"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jT1fghasm642iAydBOxgqRy6K5c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40C5DCB-21B3-4232-9D9F-8AA27EB8322D}">
  <a:tblStyle styleId="{240C5DCB-21B3-4232-9D9F-8AA27EB8322D}" styleName="Table_0">
    <a:wholeTbl>
      <a:tcTxStyle b="off" i="off">
        <a:font>
          <a:latin typeface="Aptos"/>
          <a:ea typeface="Aptos"/>
          <a:cs typeface="Aptos"/>
        </a:font>
        <a:schemeClr val="dk1"/>
      </a:tcTxStyle>
      <a:tcStyle>
        <a:tcBdr>
          <a:left>
            <a:ln w="12700" cap="flat" cmpd="sng">
              <a:solidFill>
                <a:schemeClr val="accent1"/>
              </a:solidFill>
              <a:prstDash val="solid"/>
              <a:round/>
              <a:headEnd type="none" w="sm" len="sm"/>
              <a:tailEnd type="none" w="sm" len="sm"/>
            </a:ln>
          </a:left>
          <a:right>
            <a:ln w="12700" cap="flat" cmpd="sng">
              <a:solidFill>
                <a:schemeClr val="accent1"/>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12700" cap="flat" cmpd="sng">
              <a:solidFill>
                <a:schemeClr val="accent1"/>
              </a:solidFill>
              <a:prstDash val="solid"/>
              <a:round/>
              <a:headEnd type="none" w="sm" len="sm"/>
              <a:tailEnd type="none" w="sm" len="sm"/>
            </a:ln>
          </a:insideH>
          <a:insideV>
            <a:ln w="12700" cap="flat" cmpd="sng">
              <a:solidFill>
                <a:schemeClr val="accent1"/>
              </a:solidFill>
              <a:prstDash val="solid"/>
              <a:round/>
              <a:headEnd type="none" w="sm" len="sm"/>
              <a:tailEnd type="none" w="sm" len="sm"/>
            </a:ln>
          </a:insideV>
        </a:tcBdr>
        <a:fill>
          <a:solidFill>
            <a:srgbClr val="FFFFFF">
              <a:alpha val="0"/>
            </a:srgbClr>
          </a:solidFill>
        </a:fill>
      </a:tcStyle>
    </a:wholeTbl>
    <a:band1H>
      <a:tcTxStyle/>
      <a:tcStyle>
        <a:tcBdr/>
        <a:fill>
          <a:solidFill>
            <a:schemeClr val="accent1">
              <a:alpha val="20000"/>
            </a:schemeClr>
          </a:solidFill>
        </a:fill>
      </a:tcStyle>
    </a:band1H>
    <a:band2H>
      <a:tcTxStyle/>
      <a:tcStyle>
        <a:tcBdr/>
      </a:tcStyle>
    </a:band2H>
    <a:band1V>
      <a:tcTxStyle/>
      <a:tcStyle>
        <a:tcBdr/>
        <a:fill>
          <a:solidFill>
            <a:schemeClr val="accent1">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1"/>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7664B753-F66D-416E-A228-37840B97C773}" styleName="Table_1">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40043D9D-4229-4F28-B138-ECA96E75FBFB}" styleName="Table_2">
    <a:wholeTbl>
      <a:tcTxStyle b="off" i="off">
        <a:font>
          <a:latin typeface="Aptos"/>
          <a:ea typeface="Aptos"/>
          <a:cs typeface="Aptos"/>
        </a:font>
        <a:schemeClr val="dk1"/>
      </a:tcTxStyle>
      <a:tcStyle>
        <a:tcBdr>
          <a:left>
            <a:ln w="12700" cap="flat" cmpd="sng">
              <a:solidFill>
                <a:schemeClr val="accent1"/>
              </a:solidFill>
              <a:prstDash val="solid"/>
              <a:round/>
              <a:headEnd type="none" w="sm" len="sm"/>
              <a:tailEnd type="none" w="sm" len="sm"/>
            </a:ln>
          </a:left>
          <a:right>
            <a:ln w="12700" cap="flat" cmpd="sng">
              <a:solidFill>
                <a:schemeClr val="accent1"/>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12700" cap="flat" cmpd="sng">
              <a:solidFill>
                <a:schemeClr val="accent1"/>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E7E9EC"/>
          </a:solidFill>
        </a:fill>
      </a:tcStyle>
    </a:band1H>
    <a:band2H>
      <a:tcTxStyle/>
      <a:tcStyle>
        <a:tcBdr/>
      </a:tcStyle>
    </a:band2H>
    <a:band1V>
      <a:tcTxStyle/>
      <a:tcStyle>
        <a:tcBdr/>
        <a:fill>
          <a:solidFill>
            <a:srgbClr val="E7E9EC"/>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fill>
          <a:solidFill>
            <a:schemeClr val="l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fill>
          <a:solidFill>
            <a:schemeClr val="accent1"/>
          </a:solidFill>
        </a:fill>
      </a:tcStyle>
    </a:firstRow>
    <a:neCell>
      <a:tcTxStyle/>
      <a:tcStyle>
        <a:tcBdr/>
      </a:tcStyle>
    </a:neCell>
    <a:nwCell>
      <a:tcTxStyle/>
      <a:tcStyle>
        <a:tcBdr/>
      </a:tcStyle>
    </a:nwCell>
  </a:tblStyle>
  <a:tblStyle styleId="{C3E9C122-B0F5-457C-AA57-6EAFA5F72C34}" styleName="Table_3">
    <a:wholeTbl>
      <a:tcTxStyle b="off" i="off">
        <a:font>
          <a:latin typeface="Aptos"/>
          <a:ea typeface="Aptos"/>
          <a:cs typeface="Aptos"/>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1">
              <a:alpha val="20000"/>
            </a:schemeClr>
          </a:solidFill>
        </a:fill>
      </a:tcStyle>
    </a:band1H>
    <a:band2H>
      <a:tcTxStyle/>
      <a:tcStyle>
        <a:tcBdr/>
      </a:tcStyle>
    </a:band2H>
    <a:band1V>
      <a:tcTxStyle/>
      <a:tcStyle>
        <a:tcBdr/>
        <a:fill>
          <a:solidFill>
            <a:schemeClr val="accent1">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1"/>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5" Type="http://customschemas.google.com/relationships/presentationmetadata" Target="metadata"/><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wan w" userId="dd59ab2eb1a2be5b" providerId="LiveId" clId="{602DE33F-C77E-4AEF-AB4C-BF3B6EC6C07E}"/>
    <pc:docChg chg="custSel delSld modSld">
      <pc:chgData name="Kwan w" userId="dd59ab2eb1a2be5b" providerId="LiveId" clId="{602DE33F-C77E-4AEF-AB4C-BF3B6EC6C07E}" dt="2026-03-14T10:23:04.912" v="3" actId="47"/>
      <pc:docMkLst>
        <pc:docMk/>
      </pc:docMkLst>
      <pc:sldChg chg="delSp modSp mod">
        <pc:chgData name="Kwan w" userId="dd59ab2eb1a2be5b" providerId="LiveId" clId="{602DE33F-C77E-4AEF-AB4C-BF3B6EC6C07E}" dt="2026-03-14T10:22:49.290" v="2" actId="20577"/>
        <pc:sldMkLst>
          <pc:docMk/>
          <pc:sldMk cId="0" sldId="256"/>
        </pc:sldMkLst>
        <pc:spChg chg="mod">
          <ac:chgData name="Kwan w" userId="dd59ab2eb1a2be5b" providerId="LiveId" clId="{602DE33F-C77E-4AEF-AB4C-BF3B6EC6C07E}" dt="2026-03-14T10:22:49.290" v="2" actId="20577"/>
          <ac:spMkLst>
            <pc:docMk/>
            <pc:sldMk cId="0" sldId="256"/>
            <ac:spMk id="89" creationId="{00000000-0000-0000-0000-000000000000}"/>
          </ac:spMkLst>
        </pc:spChg>
        <pc:spChg chg="del mod">
          <ac:chgData name="Kwan w" userId="dd59ab2eb1a2be5b" providerId="LiveId" clId="{602DE33F-C77E-4AEF-AB4C-BF3B6EC6C07E}" dt="2026-03-14T10:22:46.288" v="1" actId="478"/>
          <ac:spMkLst>
            <pc:docMk/>
            <pc:sldMk cId="0" sldId="256"/>
            <ac:spMk id="90" creationId="{00000000-0000-0000-0000-000000000000}"/>
          </ac:spMkLst>
        </pc:spChg>
      </pc:sldChg>
      <pc:sldChg chg="del">
        <pc:chgData name="Kwan w" userId="dd59ab2eb1a2be5b" providerId="LiveId" clId="{602DE33F-C77E-4AEF-AB4C-BF3B6EC6C07E}" dt="2026-03-14T10:23:04.912" v="3" actId="47"/>
        <pc:sldMkLst>
          <pc:docMk/>
          <pc:sldMk cId="0"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https://app7.legco.gov.hk/rpdb/en/uploads/2024/ISSH/ISSH11_2024_20240531_en.pdf</a:t>
            </a:r>
            <a:endParaRPr/>
          </a:p>
          <a:p>
            <a:pPr marL="0" lvl="0" indent="0" algn="l" rtl="0">
              <a:spcBef>
                <a:spcPts val="0"/>
              </a:spcBef>
              <a:spcAft>
                <a:spcPts val="0"/>
              </a:spcAft>
              <a:buNone/>
            </a:pPr>
            <a:r>
              <a:rPr lang="en-US"/>
              <a:t>https://www.healthbureau.gov.hk/download/press_and_publications/otherinfo/180500_mhr/e_mhr_full_report.pdf</a:t>
            </a:r>
            <a:endParaRPr/>
          </a:p>
          <a:p>
            <a:pPr marL="0" lvl="0" indent="0" algn="l" rtl="0">
              <a:spcBef>
                <a:spcPts val="0"/>
              </a:spcBef>
              <a:spcAft>
                <a:spcPts val="0"/>
              </a:spcAft>
              <a:buNone/>
            </a:pPr>
            <a:r>
              <a:rPr lang="en-US"/>
              <a:t>https://www.frontiersin.org/journals/psychology/articles/10.3389/fpsyg.2021.647756/pdf</a:t>
            </a:r>
            <a:endParaRPr/>
          </a:p>
        </p:txBody>
      </p:sp>
      <p:sp>
        <p:nvSpPr>
          <p:cNvPr id="118" name="Google Shape;11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標題及內容" type="obj">
  <p:cSld name="OBJECT">
    <p:spTree>
      <p:nvGrpSpPr>
        <p:cNvPr id="1" name="Shape 21"/>
        <p:cNvGrpSpPr/>
        <p:nvPr/>
      </p:nvGrpSpPr>
      <p:grpSpPr>
        <a:xfrm>
          <a:off x="0" y="0"/>
          <a:ext cx="0" cy="0"/>
          <a:chOff x="0" y="0"/>
          <a:chExt cx="0" cy="0"/>
        </a:xfrm>
      </p:grpSpPr>
      <p:sp>
        <p:nvSpPr>
          <p:cNvPr id="22" name="Google Shape;22;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章節標題" type="secHead">
  <p:cSld name="SECTION_HEADER">
    <p:spTree>
      <p:nvGrpSpPr>
        <p:cNvPr id="1" name="Shape 27"/>
        <p:cNvGrpSpPr/>
        <p:nvPr/>
      </p:nvGrpSpPr>
      <p:grpSpPr>
        <a:xfrm>
          <a:off x="0" y="0"/>
          <a:ext cx="0" cy="0"/>
          <a:chOff x="0" y="0"/>
          <a:chExt cx="0" cy="0"/>
        </a:xfrm>
      </p:grpSpPr>
      <p:sp>
        <p:nvSpPr>
          <p:cNvPr id="28" name="Google Shape;28;p2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兩個內容" type="twoObj">
  <p:cSld name="TWO_OBJECTS">
    <p:spTree>
      <p:nvGrpSpPr>
        <p:cNvPr id="1" name="Shape 33"/>
        <p:cNvGrpSpPr/>
        <p:nvPr/>
      </p:nvGrpSpPr>
      <p:grpSpPr>
        <a:xfrm>
          <a:off x="0" y="0"/>
          <a:ext cx="0" cy="0"/>
          <a:chOff x="0" y="0"/>
          <a:chExt cx="0" cy="0"/>
        </a:xfrm>
      </p:grpSpPr>
      <p:sp>
        <p:nvSpPr>
          <p:cNvPr id="34" name="Google Shape;34;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40"/>
        <p:cNvGrpSpPr/>
        <p:nvPr/>
      </p:nvGrpSpPr>
      <p:grpSpPr>
        <a:xfrm>
          <a:off x="0" y="0"/>
          <a:ext cx="0" cy="0"/>
          <a:chOff x="0" y="0"/>
          <a:chExt cx="0" cy="0"/>
        </a:xfrm>
      </p:grpSpPr>
      <p:sp>
        <p:nvSpPr>
          <p:cNvPr id="41" name="Google Shape;41;p3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49"/>
        <p:cNvGrpSpPr/>
        <p:nvPr/>
      </p:nvGrpSpPr>
      <p:grpSpPr>
        <a:xfrm>
          <a:off x="0" y="0"/>
          <a:ext cx="0" cy="0"/>
          <a:chOff x="0" y="0"/>
          <a:chExt cx="0" cy="0"/>
        </a:xfrm>
      </p:grpSpPr>
      <p:sp>
        <p:nvSpPr>
          <p:cNvPr id="50" name="Google Shape;50;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4"/>
        <p:cNvGrpSpPr/>
        <p:nvPr/>
      </p:nvGrpSpPr>
      <p:grpSpPr>
        <a:xfrm>
          <a:off x="0" y="0"/>
          <a:ext cx="0" cy="0"/>
          <a:chOff x="0" y="0"/>
          <a:chExt cx="0" cy="0"/>
        </a:xfrm>
      </p:grpSpPr>
      <p:sp>
        <p:nvSpPr>
          <p:cNvPr id="55" name="Google Shape;5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含輔助字幕的內容" type="objTx">
  <p:cSld name="OBJECT_WITH_CAPTION_TEXT">
    <p:spTree>
      <p:nvGrpSpPr>
        <p:cNvPr id="1" name="Shape 58"/>
        <p:cNvGrpSpPr/>
        <p:nvPr/>
      </p:nvGrpSpPr>
      <p:grpSpPr>
        <a:xfrm>
          <a:off x="0" y="0"/>
          <a:ext cx="0" cy="0"/>
          <a:chOff x="0" y="0"/>
          <a:chExt cx="0" cy="0"/>
        </a:xfrm>
      </p:grpSpPr>
      <p:sp>
        <p:nvSpPr>
          <p:cNvPr id="59" name="Google Shape;59;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含輔助字幕的圖片" type="picTx">
  <p:cSld name="PICTURE_WITH_CAPTION_TEXT">
    <p:spTree>
      <p:nvGrpSpPr>
        <p:cNvPr id="1" name="Shape 65"/>
        <p:cNvGrpSpPr/>
        <p:nvPr/>
      </p:nvGrpSpPr>
      <p:grpSpPr>
        <a:xfrm>
          <a:off x="0" y="0"/>
          <a:ext cx="0" cy="0"/>
          <a:chOff x="0" y="0"/>
          <a:chExt cx="0" cy="0"/>
        </a:xfrm>
      </p:grpSpPr>
      <p:sp>
        <p:nvSpPr>
          <p:cNvPr id="66" name="Google Shape;66;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4"/>
          <p:cNvSpPr>
            <a:spLocks noGrp="1"/>
          </p:cNvSpPr>
          <p:nvPr>
            <p:ph type="pic" idx="2"/>
          </p:nvPr>
        </p:nvSpPr>
        <p:spPr>
          <a:xfrm>
            <a:off x="5183188" y="987425"/>
            <a:ext cx="6172200" cy="4873625"/>
          </a:xfrm>
          <a:prstGeom prst="rect">
            <a:avLst/>
          </a:prstGeom>
          <a:noFill/>
          <a:ln>
            <a:noFill/>
          </a:ln>
        </p:spPr>
      </p:sp>
      <p:sp>
        <p:nvSpPr>
          <p:cNvPr id="68" name="Google Shape;68;p3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72"/>
        <p:cNvGrpSpPr/>
        <p:nvPr/>
      </p:nvGrpSpPr>
      <p:grpSpPr>
        <a:xfrm>
          <a:off x="0" y="0"/>
          <a:ext cx="0" cy="0"/>
          <a:chOff x="0" y="0"/>
          <a:chExt cx="0" cy="0"/>
        </a:xfrm>
      </p:grpSpPr>
      <p:sp>
        <p:nvSpPr>
          <p:cNvPr id="73" name="Google Shape;73;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直排標題及文字" type="vertTitleAndTx">
  <p:cSld name="VERTICAL_TITLE_AND_VERTICAL_TEXT">
    <p:spTree>
      <p:nvGrpSpPr>
        <p:cNvPr id="1" name="Shape 78"/>
        <p:cNvGrpSpPr/>
        <p:nvPr/>
      </p:nvGrpSpPr>
      <p:grpSpPr>
        <a:xfrm>
          <a:off x="0" y="0"/>
          <a:ext cx="0" cy="0"/>
          <a:chOff x="0" y="0"/>
          <a:chExt cx="0" cy="0"/>
        </a:xfrm>
      </p:grpSpPr>
      <p:sp>
        <p:nvSpPr>
          <p:cNvPr id="79" name="Google Shape;79;p3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package" Target="../embeddings/Microsoft_Excel_Macro-Enabled_Worksheet.xlsm"/><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hyperlink" Target="https://bora.uib.no/bora-xmlui/bitstream/handle/1956/17222/Master.pdf?sequence=1&amp;isAllowed=y" TargetMode="External"/><Relationship Id="rId3" Type="http://schemas.openxmlformats.org/officeDocument/2006/relationships/hyperlink" Target="https://www.kaggle.com/datasets/catherinerasgaitis/mxmh-survey-results/data" TargetMode="External"/><Relationship Id="rId7" Type="http://schemas.openxmlformats.org/officeDocument/2006/relationships/hyperlink" Target="https://www.ifpi.org/wp-content/uploads/2023/12/IFPI-Engaging-With-Music-2023_full-report.pdf"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www.frontiersin.org/journals/psychology/articles/10.3389/fpsyg.2021.647756/pdf" TargetMode="External"/><Relationship Id="rId5" Type="http://schemas.openxmlformats.org/officeDocument/2006/relationships/hyperlink" Target="https://www.healthbureau.gov.hk/download/press_and_publications/otherinfo/180500_mhr/e_mhr_full_report.pdf" TargetMode="External"/><Relationship Id="rId4" Type="http://schemas.openxmlformats.org/officeDocument/2006/relationships/hyperlink" Target="https://app7.legco.gov.hk/rpdb/en/uploads/2024/ISSH/ISSH11_2024_20240531_en.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9" name="Google Shape;89;p1"/>
          <p:cNvSpPr txBox="1">
            <a:spLocks noGrp="1"/>
          </p:cNvSpPr>
          <p:nvPr>
            <p:ph type="ctrTitle"/>
          </p:nvPr>
        </p:nvSpPr>
        <p:spPr>
          <a:xfrm>
            <a:off x="5297761" y="640080"/>
            <a:ext cx="6412457" cy="356616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F4862"/>
              </a:buClr>
              <a:buSzPts val="4200"/>
              <a:buFont typeface="Play"/>
              <a:buNone/>
            </a:pPr>
            <a:r>
              <a:rPr lang="en-US" sz="4200" b="1" dirty="0">
                <a:solidFill>
                  <a:srgbClr val="0F4862"/>
                </a:solidFill>
              </a:rPr>
              <a:t>A Coarse Study of Effect of Music on Mental Health</a:t>
            </a:r>
            <a:br>
              <a:rPr lang="en-US" sz="4200" dirty="0"/>
            </a:br>
            <a:endParaRPr sz="2000" dirty="0">
              <a:solidFill>
                <a:srgbClr val="7C7C7C"/>
              </a:solidFill>
            </a:endParaRPr>
          </a:p>
        </p:txBody>
      </p:sp>
      <p:pic>
        <p:nvPicPr>
          <p:cNvPr id="91" name="Google Shape;91;p1" descr="Close-up of treble cleff on music sheet"/>
          <p:cNvPicPr preferRelativeResize="0"/>
          <p:nvPr/>
        </p:nvPicPr>
        <p:blipFill rotWithShape="1">
          <a:blip r:embed="rId3">
            <a:alphaModFix/>
          </a:blip>
          <a:srcRect l="31881" r="17187" b="4"/>
          <a:stretch/>
        </p:blipFill>
        <p:spPr>
          <a:xfrm>
            <a:off x="1" y="10"/>
            <a:ext cx="4657344" cy="6857990"/>
          </a:xfrm>
          <a:custGeom>
            <a:avLst/>
            <a:gdLst/>
            <a:ahLst/>
            <a:cxnLst/>
            <a:rect l="l" t="t" r="r" b="b"/>
            <a:pathLst>
              <a:path w="4657344" h="6858000" extrusionOk="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92" name="Google Shape;92;p1"/>
          <p:cNvSpPr/>
          <p:nvPr/>
        </p:nvSpPr>
        <p:spPr>
          <a:xfrm>
            <a:off x="5412862" y="4409267"/>
            <a:ext cx="4243589" cy="18288"/>
          </a:xfrm>
          <a:custGeom>
            <a:avLst/>
            <a:gdLst/>
            <a:ahLst/>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
        <p:cNvGrpSpPr/>
        <p:nvPr/>
      </p:nvGrpSpPr>
      <p:grpSpPr>
        <a:xfrm>
          <a:off x="0" y="0"/>
          <a:ext cx="0" cy="0"/>
          <a:chOff x="0" y="0"/>
          <a:chExt cx="0" cy="0"/>
        </a:xfrm>
      </p:grpSpPr>
      <p:sp>
        <p:nvSpPr>
          <p:cNvPr id="97" name="Google Shape;97;p2"/>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8" name="Google Shape;98;p2"/>
          <p:cNvSpPr/>
          <p:nvPr/>
        </p:nvSpPr>
        <p:spPr>
          <a:xfrm flipH="1">
            <a:off x="1" y="0"/>
            <a:ext cx="5511704" cy="6858000"/>
          </a:xfrm>
          <a:custGeom>
            <a:avLst/>
            <a:gdLst/>
            <a:ahLst/>
            <a:cxnLst/>
            <a:rect l="l" t="t" r="r" b="b"/>
            <a:pathLst>
              <a:path w="5511704" h="6886576" extrusionOk="0">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lt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 name="Google Shape;99;p2"/>
          <p:cNvSpPr txBox="1">
            <a:spLocks noGrp="1"/>
          </p:cNvSpPr>
          <p:nvPr>
            <p:ph type="title"/>
          </p:nvPr>
        </p:nvSpPr>
        <p:spPr>
          <a:xfrm>
            <a:off x="838200" y="713312"/>
            <a:ext cx="4038600" cy="54313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Disclaimer</a:t>
            </a:r>
            <a:endParaRPr>
              <a:solidFill>
                <a:srgbClr val="0F4862"/>
              </a:solidFill>
            </a:endParaRPr>
          </a:p>
        </p:txBody>
      </p:sp>
      <p:sp>
        <p:nvSpPr>
          <p:cNvPr id="100" name="Google Shape;100;p2"/>
          <p:cNvSpPr txBox="1">
            <a:spLocks noGrp="1"/>
          </p:cNvSpPr>
          <p:nvPr>
            <p:ph type="body" idx="1"/>
          </p:nvPr>
        </p:nvSpPr>
        <p:spPr>
          <a:xfrm>
            <a:off x="5429249" y="713313"/>
            <a:ext cx="6538384" cy="54313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None/>
            </a:pPr>
            <a:r>
              <a:rPr lang="en-US" sz="2400"/>
              <a:t>The content herein is solely for education purpose in practice of IT data analytics under the introductory course of Christian Action based on dataset available in public site.  None of the information shared herein should be used as advice, consultation or assistance of any kinds of mental treatment or any profession.  The authors, teachers and Christian Action should owe no responsibility to any consequence in direct or indirect relation to the use of information in this material and derived presentation.  Should there be of any mental condition, unpleasant condition or support need, please approach professionals, entrusted physicians and trusted persons.</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6" name="Google Shape;106;p3"/>
          <p:cNvSpPr/>
          <p:nvPr/>
        </p:nvSpPr>
        <p:spPr>
          <a:xfrm>
            <a:off x="305" y="0"/>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7" name="Google Shape;107;p3"/>
          <p:cNvSpPr txBox="1">
            <a:spLocks noGrp="1"/>
          </p:cNvSpPr>
          <p:nvPr>
            <p:ph type="title"/>
          </p:nvPr>
        </p:nvSpPr>
        <p:spPr>
          <a:xfrm>
            <a:off x="804672" y="802955"/>
            <a:ext cx="4977976" cy="14540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Agenda</a:t>
            </a:r>
            <a:endParaRPr b="1">
              <a:solidFill>
                <a:srgbClr val="0F4862"/>
              </a:solidFill>
            </a:endParaRPr>
          </a:p>
        </p:txBody>
      </p:sp>
      <p:sp>
        <p:nvSpPr>
          <p:cNvPr id="108" name="Google Shape;108;p3"/>
          <p:cNvSpPr txBox="1">
            <a:spLocks noGrp="1"/>
          </p:cNvSpPr>
          <p:nvPr>
            <p:ph type="body" idx="1"/>
          </p:nvPr>
        </p:nvSpPr>
        <p:spPr>
          <a:xfrm>
            <a:off x="804672" y="2421682"/>
            <a:ext cx="4977578" cy="3639289"/>
          </a:xfrm>
          <a:prstGeom prst="rect">
            <a:avLst/>
          </a:prstGeom>
          <a:noFill/>
          <a:ln>
            <a:noFill/>
          </a:ln>
        </p:spPr>
        <p:txBody>
          <a:bodyPr spcFirstLastPara="1" wrap="square" lIns="91425" tIns="45700" rIns="91425" bIns="45700" anchor="ctr" anchorCtr="0">
            <a:normAutofit/>
          </a:bodyPr>
          <a:lstStyle/>
          <a:p>
            <a:pPr marL="342900" lvl="0" indent="-342900" algn="l" rtl="0">
              <a:lnSpc>
                <a:spcPct val="90000"/>
              </a:lnSpc>
              <a:spcBef>
                <a:spcPts val="0"/>
              </a:spcBef>
              <a:spcAft>
                <a:spcPts val="0"/>
              </a:spcAft>
              <a:buClr>
                <a:schemeClr val="dk2"/>
              </a:buClr>
              <a:buSzPts val="2400"/>
              <a:buFont typeface="Play"/>
              <a:buAutoNum type="arabicPeriod"/>
            </a:pPr>
            <a:r>
              <a:rPr lang="en-US" sz="2400">
                <a:solidFill>
                  <a:schemeClr val="dk2"/>
                </a:solidFill>
                <a:latin typeface="Arial"/>
                <a:ea typeface="Arial"/>
                <a:cs typeface="Arial"/>
                <a:sym typeface="Arial"/>
              </a:rPr>
              <a:t>Background </a:t>
            </a:r>
            <a:endParaRPr/>
          </a:p>
          <a:p>
            <a:pPr marL="342900" lvl="0" indent="-342900" algn="l" rtl="0">
              <a:lnSpc>
                <a:spcPct val="90000"/>
              </a:lnSpc>
              <a:spcBef>
                <a:spcPts val="1000"/>
              </a:spcBef>
              <a:spcAft>
                <a:spcPts val="0"/>
              </a:spcAft>
              <a:buClr>
                <a:schemeClr val="dk2"/>
              </a:buClr>
              <a:buSzPts val="2400"/>
              <a:buFont typeface="Play"/>
              <a:buAutoNum type="arabicPeriod"/>
            </a:pPr>
            <a:r>
              <a:rPr lang="en-US" sz="2400">
                <a:solidFill>
                  <a:schemeClr val="dk2"/>
                </a:solidFill>
                <a:latin typeface="Arial"/>
                <a:ea typeface="Arial"/>
                <a:cs typeface="Arial"/>
                <a:sym typeface="Arial"/>
              </a:rPr>
              <a:t>Approach</a:t>
            </a:r>
            <a:endParaRPr/>
          </a:p>
          <a:p>
            <a:pPr marL="342900" lvl="0" indent="-342900" algn="l" rtl="0">
              <a:lnSpc>
                <a:spcPct val="90000"/>
              </a:lnSpc>
              <a:spcBef>
                <a:spcPts val="1000"/>
              </a:spcBef>
              <a:spcAft>
                <a:spcPts val="0"/>
              </a:spcAft>
              <a:buClr>
                <a:schemeClr val="dk2"/>
              </a:buClr>
              <a:buSzPts val="2400"/>
              <a:buAutoNum type="arabicPeriod"/>
            </a:pPr>
            <a:r>
              <a:rPr lang="en-US" sz="2400">
                <a:solidFill>
                  <a:schemeClr val="dk2"/>
                </a:solidFill>
              </a:rPr>
              <a:t>Introduction to the dataset</a:t>
            </a:r>
            <a:endParaRPr sz="2400">
              <a:solidFill>
                <a:schemeClr val="dk2"/>
              </a:solidFill>
              <a:latin typeface="Arial"/>
              <a:ea typeface="Arial"/>
              <a:cs typeface="Arial"/>
              <a:sym typeface="Arial"/>
            </a:endParaRPr>
          </a:p>
          <a:p>
            <a:pPr marL="342900" lvl="0" indent="-342900" algn="l" rtl="0">
              <a:lnSpc>
                <a:spcPct val="90000"/>
              </a:lnSpc>
              <a:spcBef>
                <a:spcPts val="1000"/>
              </a:spcBef>
              <a:spcAft>
                <a:spcPts val="0"/>
              </a:spcAft>
              <a:buClr>
                <a:schemeClr val="dk2"/>
              </a:buClr>
              <a:buSzPts val="2400"/>
              <a:buFont typeface="Play"/>
              <a:buAutoNum type="arabicPeriod"/>
            </a:pPr>
            <a:r>
              <a:rPr lang="en-US" sz="2400">
                <a:solidFill>
                  <a:schemeClr val="dk2"/>
                </a:solidFill>
                <a:latin typeface="Arial"/>
                <a:ea typeface="Arial"/>
                <a:cs typeface="Arial"/>
                <a:sym typeface="Arial"/>
              </a:rPr>
              <a:t>Data Cleansing</a:t>
            </a:r>
            <a:endParaRPr sz="2400">
              <a:solidFill>
                <a:schemeClr val="dk2"/>
              </a:solidFill>
            </a:endParaRPr>
          </a:p>
          <a:p>
            <a:pPr marL="342900" lvl="0" indent="-342900" algn="l" rtl="0">
              <a:lnSpc>
                <a:spcPct val="90000"/>
              </a:lnSpc>
              <a:spcBef>
                <a:spcPts val="1000"/>
              </a:spcBef>
              <a:spcAft>
                <a:spcPts val="0"/>
              </a:spcAft>
              <a:buClr>
                <a:schemeClr val="dk2"/>
              </a:buClr>
              <a:buSzPts val="2400"/>
              <a:buFont typeface="Play"/>
              <a:buAutoNum type="arabicPeriod"/>
            </a:pPr>
            <a:r>
              <a:rPr lang="en-US" sz="2400">
                <a:solidFill>
                  <a:schemeClr val="dk2"/>
                </a:solidFill>
                <a:latin typeface="Arial"/>
                <a:ea typeface="Arial"/>
                <a:cs typeface="Arial"/>
                <a:sym typeface="Arial"/>
              </a:rPr>
              <a:t>Analysis and Implications</a:t>
            </a:r>
            <a:endParaRPr sz="2400">
              <a:solidFill>
                <a:schemeClr val="dk2"/>
              </a:solidFill>
            </a:endParaRPr>
          </a:p>
          <a:p>
            <a:pPr marL="342900" lvl="0" indent="-342900" algn="l" rtl="0">
              <a:lnSpc>
                <a:spcPct val="90000"/>
              </a:lnSpc>
              <a:spcBef>
                <a:spcPts val="1000"/>
              </a:spcBef>
              <a:spcAft>
                <a:spcPts val="0"/>
              </a:spcAft>
              <a:buClr>
                <a:schemeClr val="dk2"/>
              </a:buClr>
              <a:buSzPts val="2400"/>
              <a:buFont typeface="Play"/>
              <a:buAutoNum type="arabicPeriod"/>
            </a:pPr>
            <a:r>
              <a:rPr lang="en-US" sz="2400">
                <a:solidFill>
                  <a:schemeClr val="dk2"/>
                </a:solidFill>
                <a:latin typeface="Arial"/>
                <a:ea typeface="Arial"/>
                <a:cs typeface="Arial"/>
                <a:sym typeface="Arial"/>
              </a:rPr>
              <a:t>Challenges and Limitations</a:t>
            </a:r>
            <a:endParaRPr sz="2400">
              <a:solidFill>
                <a:schemeClr val="dk2"/>
              </a:solidFill>
              <a:latin typeface="Arial"/>
              <a:ea typeface="Arial"/>
              <a:cs typeface="Arial"/>
              <a:sym typeface="Arial"/>
            </a:endParaRPr>
          </a:p>
          <a:p>
            <a:pPr marL="342900" lvl="0" indent="-342900" algn="l" rtl="0">
              <a:lnSpc>
                <a:spcPct val="90000"/>
              </a:lnSpc>
              <a:spcBef>
                <a:spcPts val="1000"/>
              </a:spcBef>
              <a:spcAft>
                <a:spcPts val="0"/>
              </a:spcAft>
              <a:buClr>
                <a:schemeClr val="dk2"/>
              </a:buClr>
              <a:buSzPts val="2400"/>
              <a:buFont typeface="Play"/>
              <a:buAutoNum type="arabicPeriod"/>
            </a:pPr>
            <a:r>
              <a:rPr lang="en-US" sz="2400">
                <a:solidFill>
                  <a:schemeClr val="dk2"/>
                </a:solidFill>
                <a:latin typeface="Arial"/>
                <a:ea typeface="Arial"/>
                <a:cs typeface="Arial"/>
                <a:sym typeface="Arial"/>
              </a:rPr>
              <a:t>Conclusion</a:t>
            </a:r>
            <a:endParaRPr sz="2400">
              <a:solidFill>
                <a:schemeClr val="dk2"/>
              </a:solidFill>
              <a:latin typeface="Arial"/>
              <a:ea typeface="Arial"/>
              <a:cs typeface="Arial"/>
              <a:sym typeface="Arial"/>
            </a:endParaRPr>
          </a:p>
          <a:p>
            <a:pPr marL="228600" lvl="0" indent="-114300" algn="l" rtl="0">
              <a:lnSpc>
                <a:spcPct val="90000"/>
              </a:lnSpc>
              <a:spcBef>
                <a:spcPts val="1800"/>
              </a:spcBef>
              <a:spcAft>
                <a:spcPts val="0"/>
              </a:spcAft>
              <a:buClr>
                <a:schemeClr val="dk1"/>
              </a:buClr>
              <a:buSzPts val="1800"/>
              <a:buNone/>
            </a:pPr>
            <a:endParaRPr sz="1800">
              <a:solidFill>
                <a:schemeClr val="dk2"/>
              </a:solidFill>
            </a:endParaRPr>
          </a:p>
        </p:txBody>
      </p:sp>
      <p:grpSp>
        <p:nvGrpSpPr>
          <p:cNvPr id="109" name="Google Shape;109;p3"/>
          <p:cNvGrpSpPr/>
          <p:nvPr/>
        </p:nvGrpSpPr>
        <p:grpSpPr>
          <a:xfrm>
            <a:off x="6369897" y="0"/>
            <a:ext cx="5822103" cy="6685267"/>
            <a:chOff x="6357228" y="0"/>
            <a:chExt cx="5822103" cy="6685267"/>
          </a:xfrm>
        </p:grpSpPr>
        <p:sp>
          <p:nvSpPr>
            <p:cNvPr id="110" name="Google Shape;110;p3"/>
            <p:cNvSpPr/>
            <p:nvPr/>
          </p:nvSpPr>
          <p:spPr>
            <a:xfrm>
              <a:off x="6357228" y="0"/>
              <a:ext cx="5822102" cy="6685267"/>
            </a:xfrm>
            <a:custGeom>
              <a:avLst/>
              <a:gdLst/>
              <a:ahLst/>
              <a:cxnLst/>
              <a:rect l="l" t="t" r="r" b="b"/>
              <a:pathLst>
                <a:path w="5822102" h="6685267" extrusionOk="0">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1" name="Google Shape;111;p3"/>
            <p:cNvSpPr/>
            <p:nvPr/>
          </p:nvSpPr>
          <p:spPr>
            <a:xfrm>
              <a:off x="6404998" y="98659"/>
              <a:ext cx="5774333" cy="6315453"/>
            </a:xfrm>
            <a:custGeom>
              <a:avLst/>
              <a:gdLst/>
              <a:ahLst/>
              <a:cxnLst/>
              <a:rect l="l" t="t" r="r" b="b"/>
              <a:pathLst>
                <a:path w="5774333" h="6315453" extrusionOk="0">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2" name="Google Shape;112;p3"/>
            <p:cNvSpPr/>
            <p:nvPr/>
          </p:nvSpPr>
          <p:spPr>
            <a:xfrm>
              <a:off x="6410220" y="131729"/>
              <a:ext cx="5769111" cy="6229400"/>
            </a:xfrm>
            <a:custGeom>
              <a:avLst/>
              <a:gdLst/>
              <a:ahLst/>
              <a:cxnLst/>
              <a:rect l="l" t="t" r="r" b="b"/>
              <a:pathLst>
                <a:path w="5769111" h="6229400" extrusionOk="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3" name="Google Shape;113;p3"/>
            <p:cNvSpPr/>
            <p:nvPr/>
          </p:nvSpPr>
          <p:spPr>
            <a:xfrm>
              <a:off x="6410220" y="131729"/>
              <a:ext cx="5769111" cy="6229400"/>
            </a:xfrm>
            <a:custGeom>
              <a:avLst/>
              <a:gdLst/>
              <a:ahLst/>
              <a:cxnLst/>
              <a:rect l="l" t="t" r="r" b="b"/>
              <a:pathLst>
                <a:path w="5769111" h="6229400" extrusionOk="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114" name="Google Shape;114;p3" descr="CheckList"/>
          <p:cNvPicPr preferRelativeResize="0"/>
          <p:nvPr/>
        </p:nvPicPr>
        <p:blipFill rotWithShape="1">
          <a:blip r:embed="rId3">
            <a:alphaModFix/>
          </a:blip>
          <a:srcRect/>
          <a:stretch/>
        </p:blipFill>
        <p:spPr>
          <a:xfrm>
            <a:off x="8121726" y="1629089"/>
            <a:ext cx="3620021" cy="362002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9"/>
        <p:cNvGrpSpPr/>
        <p:nvPr/>
      </p:nvGrpSpPr>
      <p:grpSpPr>
        <a:xfrm>
          <a:off x="0" y="0"/>
          <a:ext cx="0" cy="0"/>
          <a:chOff x="0" y="0"/>
          <a:chExt cx="0" cy="0"/>
        </a:xfrm>
      </p:grpSpPr>
      <p:sp>
        <p:nvSpPr>
          <p:cNvPr id="120" name="Google Shape;120;p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1" name="Google Shape;121;p4"/>
          <p:cNvSpPr/>
          <p:nvPr/>
        </p:nvSpPr>
        <p:spPr>
          <a:xfrm>
            <a:off x="0" y="-1"/>
            <a:ext cx="11766176" cy="2061837"/>
          </a:xfrm>
          <a:custGeom>
            <a:avLst/>
            <a:gdLst/>
            <a:ahLst/>
            <a:cxnLst/>
            <a:rect l="l" t="t" r="r" b="b"/>
            <a:pathLst>
              <a:path w="10768629" h="1978172" extrusionOk="0">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2" name="Google Shape;122;p4"/>
          <p:cNvSpPr txBox="1">
            <a:spLocks noGrp="1"/>
          </p:cNvSpPr>
          <p:nvPr>
            <p:ph type="title"/>
          </p:nvPr>
        </p:nvSpPr>
        <p:spPr>
          <a:xfrm>
            <a:off x="1137034" y="609597"/>
            <a:ext cx="9392421" cy="13308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Background</a:t>
            </a:r>
            <a:endParaRPr>
              <a:solidFill>
                <a:srgbClr val="0F4862"/>
              </a:solidFill>
            </a:endParaRPr>
          </a:p>
        </p:txBody>
      </p:sp>
      <p:sp>
        <p:nvSpPr>
          <p:cNvPr id="123" name="Google Shape;123;p4"/>
          <p:cNvSpPr txBox="1">
            <a:spLocks noGrp="1"/>
          </p:cNvSpPr>
          <p:nvPr>
            <p:ph type="body" idx="1"/>
          </p:nvPr>
        </p:nvSpPr>
        <p:spPr>
          <a:xfrm>
            <a:off x="1137034" y="2653445"/>
            <a:ext cx="5548437" cy="2817107"/>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a:t>Mental health as escalating public health issue in HK</a:t>
            </a:r>
            <a:endParaRPr sz="2400"/>
          </a:p>
          <a:p>
            <a:pPr marL="228600" lvl="0" indent="-76200" algn="l" rtl="0">
              <a:lnSpc>
                <a:spcPct val="90000"/>
              </a:lnSpc>
              <a:spcBef>
                <a:spcPts val="1000"/>
              </a:spcBef>
              <a:spcAft>
                <a:spcPts val="0"/>
              </a:spcAft>
              <a:buClr>
                <a:schemeClr val="dk1"/>
              </a:buClr>
              <a:buSzPts val="2400"/>
              <a:buNone/>
            </a:pPr>
            <a:endParaRPr sz="2400"/>
          </a:p>
          <a:p>
            <a:pPr marL="228600" lvl="0" indent="-228600" algn="l" rtl="0">
              <a:lnSpc>
                <a:spcPct val="90000"/>
              </a:lnSpc>
              <a:spcBef>
                <a:spcPts val="1000"/>
              </a:spcBef>
              <a:spcAft>
                <a:spcPts val="0"/>
              </a:spcAft>
              <a:buClr>
                <a:schemeClr val="dk1"/>
              </a:buClr>
              <a:buSzPts val="2400"/>
              <a:buChar char="•"/>
            </a:pPr>
            <a:r>
              <a:rPr lang="en-US" sz="2400"/>
              <a:t>Music known to be part of everyday life</a:t>
            </a:r>
            <a:endParaRPr/>
          </a:p>
          <a:p>
            <a:pPr marL="228600" lvl="0" indent="-76200" algn="l" rtl="0">
              <a:lnSpc>
                <a:spcPct val="90000"/>
              </a:lnSpc>
              <a:spcBef>
                <a:spcPts val="1000"/>
              </a:spcBef>
              <a:spcAft>
                <a:spcPts val="0"/>
              </a:spcAft>
              <a:buClr>
                <a:schemeClr val="dk1"/>
              </a:buClr>
              <a:buSzPts val="2400"/>
              <a:buNone/>
            </a:pPr>
            <a:endParaRPr sz="2400"/>
          </a:p>
          <a:p>
            <a:pPr marL="228600" lvl="0" indent="-228600" algn="l" rtl="0">
              <a:lnSpc>
                <a:spcPct val="90000"/>
              </a:lnSpc>
              <a:spcBef>
                <a:spcPts val="1000"/>
              </a:spcBef>
              <a:spcAft>
                <a:spcPts val="0"/>
              </a:spcAft>
              <a:buClr>
                <a:schemeClr val="dk1"/>
              </a:buClr>
              <a:buSzPts val="2400"/>
              <a:buChar char="•"/>
            </a:pPr>
            <a:r>
              <a:rPr lang="en-US" sz="2400"/>
              <a:t>Could music be a way to mediate mental health problem?</a:t>
            </a:r>
            <a:endParaRPr sz="2400"/>
          </a:p>
        </p:txBody>
      </p:sp>
      <p:sp>
        <p:nvSpPr>
          <p:cNvPr id="124" name="Google Shape;124;p4"/>
          <p:cNvSpPr/>
          <p:nvPr/>
        </p:nvSpPr>
        <p:spPr>
          <a:xfrm rot="10800000">
            <a:off x="5381624" y="6209414"/>
            <a:ext cx="6810375" cy="648586"/>
          </a:xfrm>
          <a:custGeom>
            <a:avLst/>
            <a:gdLst/>
            <a:ahLst/>
            <a:cxnLst/>
            <a:rect l="l" t="t" r="r" b="b"/>
            <a:pathLst>
              <a:path w="10753706" h="1027260" extrusionOk="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125" name="Google Shape;125;p4"/>
          <p:cNvGraphicFramePr/>
          <p:nvPr/>
        </p:nvGraphicFramePr>
        <p:xfrm>
          <a:off x="6719367" y="2434128"/>
          <a:ext cx="4788500" cy="3257525"/>
        </p:xfrm>
        <a:graphic>
          <a:graphicData uri="http://schemas.openxmlformats.org/drawingml/2006/table">
            <a:tbl>
              <a:tblPr firstRow="1" bandRow="1">
                <a:noFill/>
                <a:tableStyleId>{240C5DCB-21B3-4232-9D9F-8AA27EB8322D}</a:tableStyleId>
              </a:tblPr>
              <a:tblGrid>
                <a:gridCol w="2349000">
                  <a:extLst>
                    <a:ext uri="{9D8B030D-6E8A-4147-A177-3AD203B41FA5}">
                      <a16:colId xmlns:a16="http://schemas.microsoft.com/office/drawing/2014/main" val="20000"/>
                    </a:ext>
                  </a:extLst>
                </a:gridCol>
                <a:gridCol w="2439500">
                  <a:extLst>
                    <a:ext uri="{9D8B030D-6E8A-4147-A177-3AD203B41FA5}">
                      <a16:colId xmlns:a16="http://schemas.microsoft.com/office/drawing/2014/main" val="20001"/>
                    </a:ext>
                  </a:extLst>
                </a:gridCol>
              </a:tblGrid>
              <a:tr h="964225">
                <a:tc>
                  <a:txBody>
                    <a:bodyPr/>
                    <a:lstStyle/>
                    <a:p>
                      <a:pPr marL="0" marR="0" lvl="0" indent="0" algn="ctr" rtl="0">
                        <a:spcBef>
                          <a:spcPts val="0"/>
                        </a:spcBef>
                        <a:spcAft>
                          <a:spcPts val="0"/>
                        </a:spcAft>
                        <a:buNone/>
                      </a:pPr>
                      <a:r>
                        <a:rPr lang="en-US" sz="2600" u="none" strike="noStrike" cap="none"/>
                        <a:t>Year</a:t>
                      </a:r>
                      <a:endParaRPr sz="2600" u="none" strike="noStrike" cap="none"/>
                    </a:p>
                  </a:txBody>
                  <a:tcPr marL="130300" marR="130300" marT="65150" marB="65150"/>
                </a:tc>
                <a:tc>
                  <a:txBody>
                    <a:bodyPr/>
                    <a:lstStyle/>
                    <a:p>
                      <a:pPr marL="0" marR="0" lvl="0" indent="0" algn="ctr" rtl="0">
                        <a:spcBef>
                          <a:spcPts val="0"/>
                        </a:spcBef>
                        <a:spcAft>
                          <a:spcPts val="0"/>
                        </a:spcAft>
                        <a:buNone/>
                      </a:pPr>
                      <a:r>
                        <a:rPr lang="en-US" sz="2600" u="none" strike="noStrike" cap="none"/>
                        <a:t>Patients with Mental Illness</a:t>
                      </a:r>
                      <a:endParaRPr sz="2600" u="none" strike="noStrike" cap="none"/>
                    </a:p>
                  </a:txBody>
                  <a:tcPr marL="130300" marR="130300" marT="65150" marB="65150"/>
                </a:tc>
                <a:extLst>
                  <a:ext uri="{0D108BD9-81ED-4DB2-BD59-A6C34878D82A}">
                    <a16:rowId xmlns:a16="http://schemas.microsoft.com/office/drawing/2014/main" val="10000"/>
                  </a:ext>
                </a:extLst>
              </a:tr>
              <a:tr h="573325">
                <a:tc>
                  <a:txBody>
                    <a:bodyPr/>
                    <a:lstStyle/>
                    <a:p>
                      <a:pPr marL="0" marR="0" lvl="0" indent="0" algn="ctr" rtl="0">
                        <a:spcBef>
                          <a:spcPts val="0"/>
                        </a:spcBef>
                        <a:spcAft>
                          <a:spcPts val="0"/>
                        </a:spcAft>
                        <a:buNone/>
                      </a:pPr>
                      <a:r>
                        <a:rPr lang="en-US" sz="2600" u="none" strike="noStrike" cap="none"/>
                        <a:t>2011 – 2012 </a:t>
                      </a:r>
                      <a:endParaRPr sz="2600" u="none" strike="noStrike" cap="none"/>
                    </a:p>
                  </a:txBody>
                  <a:tcPr marL="130300" marR="130300" marT="65150" marB="65150"/>
                </a:tc>
                <a:tc>
                  <a:txBody>
                    <a:bodyPr/>
                    <a:lstStyle/>
                    <a:p>
                      <a:pPr marL="0" marR="0" lvl="0" indent="0" algn="ctr" rtl="0">
                        <a:spcBef>
                          <a:spcPts val="0"/>
                        </a:spcBef>
                        <a:spcAft>
                          <a:spcPts val="0"/>
                        </a:spcAft>
                        <a:buNone/>
                      </a:pPr>
                      <a:r>
                        <a:rPr lang="en-US" sz="2600" u="none" strike="noStrike" cap="none"/>
                        <a:t>187,000</a:t>
                      </a:r>
                      <a:endParaRPr sz="2600" u="none" strike="noStrike" cap="none"/>
                    </a:p>
                  </a:txBody>
                  <a:tcPr marL="130300" marR="130300" marT="65150" marB="65150"/>
                </a:tc>
                <a:extLst>
                  <a:ext uri="{0D108BD9-81ED-4DB2-BD59-A6C34878D82A}">
                    <a16:rowId xmlns:a16="http://schemas.microsoft.com/office/drawing/2014/main" val="10001"/>
                  </a:ext>
                </a:extLst>
              </a:tr>
              <a:tr h="573325">
                <a:tc>
                  <a:txBody>
                    <a:bodyPr/>
                    <a:lstStyle/>
                    <a:p>
                      <a:pPr marL="0" marR="0" lvl="0" indent="0" algn="ctr" rtl="0">
                        <a:spcBef>
                          <a:spcPts val="0"/>
                        </a:spcBef>
                        <a:spcAft>
                          <a:spcPts val="0"/>
                        </a:spcAft>
                        <a:buNone/>
                      </a:pPr>
                      <a:r>
                        <a:rPr lang="en-US" sz="2600" u="none" strike="noStrike" cap="none"/>
                        <a:t>2015 – 2016 </a:t>
                      </a:r>
                      <a:endParaRPr sz="2600" u="none" strike="noStrike" cap="none"/>
                    </a:p>
                  </a:txBody>
                  <a:tcPr marL="130300" marR="130300" marT="65150" marB="65150"/>
                </a:tc>
                <a:tc>
                  <a:txBody>
                    <a:bodyPr/>
                    <a:lstStyle/>
                    <a:p>
                      <a:pPr marL="0" marR="0" lvl="0" indent="0" algn="ctr" rtl="0">
                        <a:spcBef>
                          <a:spcPts val="0"/>
                        </a:spcBef>
                        <a:spcAft>
                          <a:spcPts val="0"/>
                        </a:spcAft>
                        <a:buNone/>
                      </a:pPr>
                      <a:r>
                        <a:rPr lang="en-US" sz="2600" u="none" strike="noStrike" cap="none"/>
                        <a:t>220,000</a:t>
                      </a:r>
                      <a:endParaRPr sz="2600" u="none" strike="noStrike" cap="none"/>
                    </a:p>
                  </a:txBody>
                  <a:tcPr marL="130300" marR="130300" marT="65150" marB="65150"/>
                </a:tc>
                <a:extLst>
                  <a:ext uri="{0D108BD9-81ED-4DB2-BD59-A6C34878D82A}">
                    <a16:rowId xmlns:a16="http://schemas.microsoft.com/office/drawing/2014/main" val="10002"/>
                  </a:ext>
                </a:extLst>
              </a:tr>
              <a:tr h="573325">
                <a:tc>
                  <a:txBody>
                    <a:bodyPr/>
                    <a:lstStyle/>
                    <a:p>
                      <a:pPr marL="0" marR="0" lvl="0" indent="0" algn="ctr" rtl="0">
                        <a:spcBef>
                          <a:spcPts val="0"/>
                        </a:spcBef>
                        <a:spcAft>
                          <a:spcPts val="0"/>
                        </a:spcAft>
                        <a:buNone/>
                      </a:pPr>
                      <a:r>
                        <a:rPr lang="en-US" sz="2600" u="none" strike="noStrike" cap="none"/>
                        <a:t>2019 – 2020 </a:t>
                      </a:r>
                      <a:endParaRPr sz="2600" u="none" strike="noStrike" cap="none"/>
                    </a:p>
                  </a:txBody>
                  <a:tcPr marL="130300" marR="130300" marT="65150" marB="65150"/>
                </a:tc>
                <a:tc>
                  <a:txBody>
                    <a:bodyPr/>
                    <a:lstStyle/>
                    <a:p>
                      <a:pPr marL="0" marR="0" lvl="0" indent="0" algn="ctr" rtl="0">
                        <a:spcBef>
                          <a:spcPts val="0"/>
                        </a:spcBef>
                        <a:spcAft>
                          <a:spcPts val="0"/>
                        </a:spcAft>
                        <a:buNone/>
                      </a:pPr>
                      <a:r>
                        <a:rPr lang="en-US" sz="2600" u="none" strike="noStrike" cap="none"/>
                        <a:t>270,700</a:t>
                      </a:r>
                      <a:endParaRPr sz="2600" u="none" strike="noStrike" cap="none"/>
                    </a:p>
                  </a:txBody>
                  <a:tcPr marL="130300" marR="130300" marT="65150" marB="65150"/>
                </a:tc>
                <a:extLst>
                  <a:ext uri="{0D108BD9-81ED-4DB2-BD59-A6C34878D82A}">
                    <a16:rowId xmlns:a16="http://schemas.microsoft.com/office/drawing/2014/main" val="10003"/>
                  </a:ext>
                </a:extLst>
              </a:tr>
              <a:tr h="573325">
                <a:tc>
                  <a:txBody>
                    <a:bodyPr/>
                    <a:lstStyle/>
                    <a:p>
                      <a:pPr marL="0" marR="0" lvl="0" indent="0" algn="ctr" rtl="0">
                        <a:spcBef>
                          <a:spcPts val="0"/>
                        </a:spcBef>
                        <a:spcAft>
                          <a:spcPts val="0"/>
                        </a:spcAft>
                        <a:buNone/>
                      </a:pPr>
                      <a:r>
                        <a:rPr lang="en-US" sz="2600" u="none" strike="noStrike" cap="none"/>
                        <a:t>2023 – 2024 </a:t>
                      </a:r>
                      <a:endParaRPr sz="2600" u="none" strike="noStrike" cap="none"/>
                    </a:p>
                  </a:txBody>
                  <a:tcPr marL="130300" marR="130300" marT="65150" marB="65150"/>
                </a:tc>
                <a:tc>
                  <a:txBody>
                    <a:bodyPr/>
                    <a:lstStyle/>
                    <a:p>
                      <a:pPr marL="0" marR="0" lvl="0" indent="0" algn="ctr" rtl="0">
                        <a:spcBef>
                          <a:spcPts val="0"/>
                        </a:spcBef>
                        <a:spcAft>
                          <a:spcPts val="0"/>
                        </a:spcAft>
                        <a:buNone/>
                      </a:pPr>
                      <a:r>
                        <a:rPr lang="en-US" sz="2600" u="none" strike="noStrike" cap="none"/>
                        <a:t>305,700</a:t>
                      </a:r>
                      <a:endParaRPr sz="2600" u="none" strike="noStrike" cap="none"/>
                    </a:p>
                  </a:txBody>
                  <a:tcPr marL="130300" marR="130300" marT="65150" marB="65150"/>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5"/>
          <p:cNvSpPr txBox="1">
            <a:spLocks noGrp="1"/>
          </p:cNvSpPr>
          <p:nvPr>
            <p:ph type="title"/>
          </p:nvPr>
        </p:nvSpPr>
        <p:spPr>
          <a:xfrm>
            <a:off x="838200" y="13066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Approach</a:t>
            </a:r>
            <a:endParaRPr>
              <a:solidFill>
                <a:srgbClr val="0F4862"/>
              </a:solidFill>
            </a:endParaRPr>
          </a:p>
        </p:txBody>
      </p:sp>
      <p:pic>
        <p:nvPicPr>
          <p:cNvPr id="131" name="Google Shape;131;p5" descr="Hypothesis - Free education icons"/>
          <p:cNvPicPr preferRelativeResize="0"/>
          <p:nvPr/>
        </p:nvPicPr>
        <p:blipFill rotWithShape="1">
          <a:blip r:embed="rId3">
            <a:alphaModFix/>
          </a:blip>
          <a:srcRect l="5873"/>
          <a:stretch/>
        </p:blipFill>
        <p:spPr>
          <a:xfrm>
            <a:off x="4235683" y="1336747"/>
            <a:ext cx="1434499" cy="1524000"/>
          </a:xfrm>
          <a:prstGeom prst="rect">
            <a:avLst/>
          </a:prstGeom>
          <a:noFill/>
          <a:ln>
            <a:noFill/>
          </a:ln>
        </p:spPr>
      </p:pic>
      <p:sp>
        <p:nvSpPr>
          <p:cNvPr id="132" name="Google Shape;132;p5"/>
          <p:cNvSpPr txBox="1"/>
          <p:nvPr/>
        </p:nvSpPr>
        <p:spPr>
          <a:xfrm>
            <a:off x="4213852" y="2796530"/>
            <a:ext cx="31188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Hypothesis: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There is relation between Music and Mental Health</a:t>
            </a:r>
            <a:endParaRPr sz="1800">
              <a:solidFill>
                <a:schemeClr val="dk1"/>
              </a:solidFill>
              <a:latin typeface="Arial"/>
              <a:ea typeface="Arial"/>
              <a:cs typeface="Arial"/>
              <a:sym typeface="Arial"/>
            </a:endParaRPr>
          </a:p>
        </p:txBody>
      </p:sp>
      <p:pic>
        <p:nvPicPr>
          <p:cNvPr id="133" name="Google Shape;133;p5" descr="Mental Illness Icon Vector Art, Icons, and Graphics for Free Download"/>
          <p:cNvPicPr preferRelativeResize="0"/>
          <p:nvPr/>
        </p:nvPicPr>
        <p:blipFill rotWithShape="1">
          <a:blip r:embed="rId4">
            <a:alphaModFix/>
          </a:blip>
          <a:srcRect l="24933" t="17404" r="20792" b="15987"/>
          <a:stretch/>
        </p:blipFill>
        <p:spPr>
          <a:xfrm>
            <a:off x="266328" y="1336963"/>
            <a:ext cx="1295401" cy="1589807"/>
          </a:xfrm>
          <a:prstGeom prst="rect">
            <a:avLst/>
          </a:prstGeom>
          <a:noFill/>
          <a:ln>
            <a:noFill/>
          </a:ln>
        </p:spPr>
      </p:pic>
      <p:sp>
        <p:nvSpPr>
          <p:cNvPr id="134" name="Google Shape;134;p5"/>
          <p:cNvSpPr txBox="1"/>
          <p:nvPr/>
        </p:nvSpPr>
        <p:spPr>
          <a:xfrm>
            <a:off x="266328" y="2891179"/>
            <a:ext cx="31188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Problem: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Mental health issue in society</a:t>
            </a:r>
            <a:endParaRPr sz="1800">
              <a:solidFill>
                <a:schemeClr val="dk1"/>
              </a:solidFill>
              <a:latin typeface="Arial"/>
              <a:ea typeface="Arial"/>
              <a:cs typeface="Arial"/>
              <a:sym typeface="Arial"/>
            </a:endParaRPr>
          </a:p>
        </p:txBody>
      </p:sp>
      <p:pic>
        <p:nvPicPr>
          <p:cNvPr id="135" name="Google Shape;135;p5" descr="Research - Free marketing icons"/>
          <p:cNvPicPr preferRelativeResize="0"/>
          <p:nvPr/>
        </p:nvPicPr>
        <p:blipFill rotWithShape="1">
          <a:blip r:embed="rId5">
            <a:alphaModFix/>
          </a:blip>
          <a:srcRect/>
          <a:stretch/>
        </p:blipFill>
        <p:spPr>
          <a:xfrm>
            <a:off x="8563050" y="1303497"/>
            <a:ext cx="1589807" cy="1589807"/>
          </a:xfrm>
          <a:prstGeom prst="rect">
            <a:avLst/>
          </a:prstGeom>
          <a:noFill/>
          <a:ln>
            <a:noFill/>
          </a:ln>
        </p:spPr>
      </p:pic>
      <p:sp>
        <p:nvSpPr>
          <p:cNvPr id="136" name="Google Shape;136;p5"/>
          <p:cNvSpPr txBox="1"/>
          <p:nvPr/>
        </p:nvSpPr>
        <p:spPr>
          <a:xfrm>
            <a:off x="8563050" y="2926072"/>
            <a:ext cx="31188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Research:</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Look for recent survey and open data on the subject</a:t>
            </a:r>
            <a:endParaRPr sz="1800">
              <a:solidFill>
                <a:schemeClr val="dk1"/>
              </a:solidFill>
              <a:latin typeface="Arial"/>
              <a:ea typeface="Arial"/>
              <a:cs typeface="Arial"/>
              <a:sym typeface="Arial"/>
            </a:endParaRPr>
          </a:p>
        </p:txBody>
      </p:sp>
      <p:pic>
        <p:nvPicPr>
          <p:cNvPr id="137" name="Google Shape;137;p5"/>
          <p:cNvPicPr preferRelativeResize="0"/>
          <p:nvPr/>
        </p:nvPicPr>
        <p:blipFill rotWithShape="1">
          <a:blip r:embed="rId6">
            <a:alphaModFix/>
          </a:blip>
          <a:srcRect r="44446" b="3298"/>
          <a:stretch/>
        </p:blipFill>
        <p:spPr>
          <a:xfrm>
            <a:off x="266328" y="3795683"/>
            <a:ext cx="1894177" cy="1838484"/>
          </a:xfrm>
          <a:prstGeom prst="rect">
            <a:avLst/>
          </a:prstGeom>
          <a:noFill/>
          <a:ln>
            <a:noFill/>
          </a:ln>
        </p:spPr>
      </p:pic>
      <p:sp>
        <p:nvSpPr>
          <p:cNvPr id="138" name="Google Shape;138;p5"/>
          <p:cNvSpPr txBox="1"/>
          <p:nvPr/>
        </p:nvSpPr>
        <p:spPr>
          <a:xfrm>
            <a:off x="266328" y="5636559"/>
            <a:ext cx="39693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EDA and Cleansing:</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Understanding the dataset and spot out the potential data problem</a:t>
            </a:r>
            <a:endParaRPr sz="1800">
              <a:solidFill>
                <a:schemeClr val="dk1"/>
              </a:solidFill>
              <a:latin typeface="Arial"/>
              <a:ea typeface="Arial"/>
              <a:cs typeface="Arial"/>
              <a:sym typeface="Arial"/>
            </a:endParaRPr>
          </a:p>
        </p:txBody>
      </p:sp>
      <p:pic>
        <p:nvPicPr>
          <p:cNvPr id="139" name="Google Shape;139;p5"/>
          <p:cNvPicPr preferRelativeResize="0"/>
          <p:nvPr/>
        </p:nvPicPr>
        <p:blipFill rotWithShape="1">
          <a:blip r:embed="rId6">
            <a:alphaModFix/>
          </a:blip>
          <a:srcRect l="55549" t="9981" r="6875" b="2445"/>
          <a:stretch/>
        </p:blipFill>
        <p:spPr>
          <a:xfrm>
            <a:off x="4213852" y="3815530"/>
            <a:ext cx="1414678" cy="1838485"/>
          </a:xfrm>
          <a:prstGeom prst="rect">
            <a:avLst/>
          </a:prstGeom>
          <a:noFill/>
          <a:ln>
            <a:noFill/>
          </a:ln>
        </p:spPr>
      </p:pic>
      <p:sp>
        <p:nvSpPr>
          <p:cNvPr id="140" name="Google Shape;140;p5"/>
          <p:cNvSpPr txBox="1"/>
          <p:nvPr/>
        </p:nvSpPr>
        <p:spPr>
          <a:xfrm>
            <a:off x="4054382" y="5641065"/>
            <a:ext cx="45249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Analysis and Implication:</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By data analytics and visualization tool, draw valuable observation and implications</a:t>
            </a:r>
            <a:endParaRPr sz="1800">
              <a:solidFill>
                <a:schemeClr val="dk1"/>
              </a:solidFill>
              <a:latin typeface="Arial"/>
              <a:ea typeface="Arial"/>
              <a:cs typeface="Arial"/>
              <a:sym typeface="Arial"/>
            </a:endParaRPr>
          </a:p>
        </p:txBody>
      </p:sp>
      <p:pic>
        <p:nvPicPr>
          <p:cNvPr id="141" name="Google Shape;141;p5" descr="Future - Free technology icons"/>
          <p:cNvPicPr preferRelativeResize="0"/>
          <p:nvPr/>
        </p:nvPicPr>
        <p:blipFill rotWithShape="1">
          <a:blip r:embed="rId7">
            <a:alphaModFix/>
          </a:blip>
          <a:srcRect/>
          <a:stretch/>
        </p:blipFill>
        <p:spPr>
          <a:xfrm>
            <a:off x="8563050" y="3853906"/>
            <a:ext cx="1722035" cy="1722035"/>
          </a:xfrm>
          <a:prstGeom prst="rect">
            <a:avLst/>
          </a:prstGeom>
          <a:noFill/>
          <a:ln>
            <a:noFill/>
          </a:ln>
        </p:spPr>
      </p:pic>
      <p:sp>
        <p:nvSpPr>
          <p:cNvPr id="142" name="Google Shape;142;p5"/>
          <p:cNvSpPr txBox="1"/>
          <p:nvPr/>
        </p:nvSpPr>
        <p:spPr>
          <a:xfrm>
            <a:off x="8579262" y="5636559"/>
            <a:ext cx="34116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Future Improvement:</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Evaluate and embrace feedback, for betterment</a:t>
            </a:r>
            <a:endParaRPr sz="1800">
              <a:solidFill>
                <a:schemeClr val="dk1"/>
              </a:solidFill>
              <a:latin typeface="Arial"/>
              <a:ea typeface="Arial"/>
              <a:cs typeface="Arial"/>
              <a:sym typeface="Arial"/>
            </a:endParaRPr>
          </a:p>
        </p:txBody>
      </p:sp>
      <p:sp>
        <p:nvSpPr>
          <p:cNvPr id="143" name="Google Shape;143;p5"/>
          <p:cNvSpPr/>
          <p:nvPr/>
        </p:nvSpPr>
        <p:spPr>
          <a:xfrm rot="5400000">
            <a:off x="3646779" y="2087751"/>
            <a:ext cx="334200" cy="355500"/>
          </a:xfrm>
          <a:prstGeom prst="triangle">
            <a:avLst>
              <a:gd name="adj" fmla="val 50000"/>
            </a:avLst>
          </a:prstGeom>
          <a:gradFill>
            <a:gsLst>
              <a:gs pos="0">
                <a:srgbClr val="D09DC7"/>
              </a:gs>
              <a:gs pos="50000">
                <a:srgbClr val="C490BC"/>
              </a:gs>
              <a:gs pos="100000">
                <a:srgbClr val="BF7CB5"/>
              </a:gs>
            </a:gsLst>
            <a:lin ang="5400000" scaled="0"/>
          </a:gra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44" name="Google Shape;144;p5"/>
          <p:cNvSpPr/>
          <p:nvPr/>
        </p:nvSpPr>
        <p:spPr>
          <a:xfrm rot="5400000">
            <a:off x="7425315" y="2087752"/>
            <a:ext cx="334200" cy="355500"/>
          </a:xfrm>
          <a:prstGeom prst="triangle">
            <a:avLst>
              <a:gd name="adj" fmla="val 50000"/>
            </a:avLst>
          </a:prstGeom>
          <a:gradFill>
            <a:gsLst>
              <a:gs pos="0">
                <a:srgbClr val="D09DC7"/>
              </a:gs>
              <a:gs pos="50000">
                <a:srgbClr val="C490BC"/>
              </a:gs>
              <a:gs pos="100000">
                <a:srgbClr val="BF7CB5"/>
              </a:gs>
            </a:gsLst>
            <a:lin ang="5400000" scaled="0"/>
          </a:gra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45" name="Google Shape;145;p5"/>
          <p:cNvSpPr/>
          <p:nvPr/>
        </p:nvSpPr>
        <p:spPr>
          <a:xfrm rot="5400000">
            <a:off x="3646778" y="4500414"/>
            <a:ext cx="334200" cy="355500"/>
          </a:xfrm>
          <a:prstGeom prst="triangle">
            <a:avLst>
              <a:gd name="adj" fmla="val 50000"/>
            </a:avLst>
          </a:prstGeom>
          <a:gradFill>
            <a:gsLst>
              <a:gs pos="0">
                <a:srgbClr val="D09DC7"/>
              </a:gs>
              <a:gs pos="50000">
                <a:srgbClr val="C490BC"/>
              </a:gs>
              <a:gs pos="100000">
                <a:srgbClr val="BF7CB5"/>
              </a:gs>
            </a:gsLst>
            <a:lin ang="5400000" scaled="0"/>
          </a:gra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46" name="Google Shape;146;p5"/>
          <p:cNvSpPr/>
          <p:nvPr/>
        </p:nvSpPr>
        <p:spPr>
          <a:xfrm rot="5400000">
            <a:off x="7425315" y="4537126"/>
            <a:ext cx="334200" cy="355500"/>
          </a:xfrm>
          <a:prstGeom prst="triangle">
            <a:avLst>
              <a:gd name="adj" fmla="val 50000"/>
            </a:avLst>
          </a:prstGeom>
          <a:gradFill>
            <a:gsLst>
              <a:gs pos="0">
                <a:srgbClr val="D09DC7"/>
              </a:gs>
              <a:gs pos="50000">
                <a:srgbClr val="C490BC"/>
              </a:gs>
              <a:gs pos="100000">
                <a:srgbClr val="BF7CB5"/>
              </a:gs>
            </a:gsLst>
            <a:lin ang="5400000" scaled="0"/>
          </a:gra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47" name="Google Shape;147;p5"/>
          <p:cNvSpPr/>
          <p:nvPr/>
        </p:nvSpPr>
        <p:spPr>
          <a:xfrm rot="5400000">
            <a:off x="11570763" y="2086271"/>
            <a:ext cx="334200" cy="355500"/>
          </a:xfrm>
          <a:prstGeom prst="triangle">
            <a:avLst>
              <a:gd name="adj" fmla="val 50000"/>
            </a:avLst>
          </a:prstGeom>
          <a:gradFill>
            <a:gsLst>
              <a:gs pos="0">
                <a:srgbClr val="D09DC7"/>
              </a:gs>
              <a:gs pos="50000">
                <a:srgbClr val="C490BC"/>
              </a:gs>
              <a:gs pos="100000">
                <a:srgbClr val="BF7CB5"/>
              </a:gs>
            </a:gsLst>
            <a:lin ang="5400000" scaled="0"/>
          </a:gra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1"/>
        <p:cNvGrpSpPr/>
        <p:nvPr/>
      </p:nvGrpSpPr>
      <p:grpSpPr>
        <a:xfrm>
          <a:off x="0" y="0"/>
          <a:ext cx="0" cy="0"/>
          <a:chOff x="0" y="0"/>
          <a:chExt cx="0" cy="0"/>
        </a:xfrm>
      </p:grpSpPr>
      <p:sp>
        <p:nvSpPr>
          <p:cNvPr id="152" name="Google Shape;15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Introduction of Dataset</a:t>
            </a:r>
            <a:endParaRPr>
              <a:solidFill>
                <a:srgbClr val="0F4862"/>
              </a:solidFill>
            </a:endParaRPr>
          </a:p>
        </p:txBody>
      </p:sp>
      <p:sp>
        <p:nvSpPr>
          <p:cNvPr id="153" name="Google Shape;153;p6"/>
          <p:cNvSpPr txBox="1">
            <a:spLocks noGrp="1"/>
          </p:cNvSpPr>
          <p:nvPr>
            <p:ph type="body" idx="1"/>
          </p:nvPr>
        </p:nvSpPr>
        <p:spPr>
          <a:xfrm>
            <a:off x="838200" y="1571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Data source from Kaggle:</a:t>
            </a:r>
            <a:br>
              <a:rPr lang="en-US"/>
            </a:br>
            <a:r>
              <a:rPr lang="en-US"/>
              <a:t> </a:t>
            </a:r>
            <a:r>
              <a:rPr lang="en-US" sz="2000"/>
              <a:t>https://www.kaggle.com/datasets/catherinerasgaitis/mxmh-survey-results/data</a:t>
            </a:r>
            <a:endParaRPr sz="2000"/>
          </a:p>
        </p:txBody>
      </p:sp>
      <p:pic>
        <p:nvPicPr>
          <p:cNvPr id="154" name="Google Shape;154;p6"/>
          <p:cNvPicPr preferRelativeResize="0"/>
          <p:nvPr/>
        </p:nvPicPr>
        <p:blipFill rotWithShape="1">
          <a:blip r:embed="rId4">
            <a:alphaModFix/>
          </a:blip>
          <a:srcRect/>
          <a:stretch/>
        </p:blipFill>
        <p:spPr>
          <a:xfrm>
            <a:off x="2196108" y="2692620"/>
            <a:ext cx="7800392" cy="3440962"/>
          </a:xfrm>
          <a:prstGeom prst="rect">
            <a:avLst/>
          </a:prstGeom>
          <a:noFill/>
          <a:ln>
            <a:noFill/>
          </a:ln>
        </p:spPr>
      </p:pic>
      <p:graphicFrame>
        <p:nvGraphicFramePr>
          <p:cNvPr id="155" name="Google Shape;155;p6"/>
          <p:cNvGraphicFramePr/>
          <p:nvPr/>
        </p:nvGraphicFramePr>
        <p:xfrm>
          <a:off x="11031895" y="5926931"/>
          <a:ext cx="914400" cy="769937"/>
        </p:xfrm>
        <a:graphic>
          <a:graphicData uri="http://schemas.openxmlformats.org/presentationml/2006/ole">
            <mc:AlternateContent xmlns:mc="http://schemas.openxmlformats.org/markup-compatibility/2006">
              <mc:Choice xmlns:v="urn:schemas-microsoft-com:vml" Requires="v">
                <p:oleObj r:id="rId5" imgW="914400" imgH="769937" progId="Excel.SheetMacroEnabled.12">
                  <p:embed/>
                </p:oleObj>
              </mc:Choice>
              <mc:Fallback>
                <p:oleObj r:id="rId5" imgW="914400" imgH="769937" progId="Excel.SheetMacroEnabled.12">
                  <p:embed/>
                  <p:pic>
                    <p:nvPicPr>
                      <p:cNvPr id="155" name="Google Shape;155;p6"/>
                      <p:cNvPicPr preferRelativeResize="0"/>
                      <p:nvPr/>
                    </p:nvPicPr>
                    <p:blipFill rotWithShape="1">
                      <a:blip r:embed="rId6">
                        <a:alphaModFix/>
                      </a:blip>
                      <a:srcRect/>
                      <a:stretch/>
                    </p:blipFill>
                    <p:spPr>
                      <a:xfrm>
                        <a:off x="11031895" y="5926931"/>
                        <a:ext cx="914400" cy="769937"/>
                      </a:xfrm>
                      <a:prstGeom prst="rect">
                        <a:avLst/>
                      </a:prstGeom>
                      <a:noFill/>
                      <a:ln>
                        <a:noFill/>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9"/>
        <p:cNvGrpSpPr/>
        <p:nvPr/>
      </p:nvGrpSpPr>
      <p:grpSpPr>
        <a:xfrm>
          <a:off x="0" y="0"/>
          <a:ext cx="0" cy="0"/>
          <a:chOff x="0" y="0"/>
          <a:chExt cx="0" cy="0"/>
        </a:xfrm>
      </p:grpSpPr>
      <p:sp>
        <p:nvSpPr>
          <p:cNvPr id="160" name="Google Shape;160;p7"/>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1" name="Google Shape;161;p7"/>
          <p:cNvSpPr/>
          <p:nvPr/>
        </p:nvSpPr>
        <p:spPr>
          <a:xfrm flipH="1">
            <a:off x="0" y="0"/>
            <a:ext cx="5962785" cy="6858000"/>
          </a:xfrm>
          <a:custGeom>
            <a:avLst/>
            <a:gdLst/>
            <a:ahLst/>
            <a:cxnLst/>
            <a:rect l="l" t="t" r="r" b="b"/>
            <a:pathLst>
              <a:path w="5962785" h="6858000" extrusionOk="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l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62" name="Google Shape;162;p7"/>
          <p:cNvSpPr txBox="1">
            <a:spLocks noGrp="1"/>
          </p:cNvSpPr>
          <p:nvPr>
            <p:ph type="title"/>
          </p:nvPr>
        </p:nvSpPr>
        <p:spPr>
          <a:xfrm>
            <a:off x="234951" y="-86783"/>
            <a:ext cx="5941693" cy="147244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Dataset Characteristics</a:t>
            </a:r>
            <a:endParaRPr>
              <a:solidFill>
                <a:srgbClr val="0F4862"/>
              </a:solidFill>
            </a:endParaRPr>
          </a:p>
        </p:txBody>
      </p:sp>
      <p:sp>
        <p:nvSpPr>
          <p:cNvPr id="163" name="Google Shape;163;p7"/>
          <p:cNvSpPr txBox="1">
            <a:spLocks noGrp="1"/>
          </p:cNvSpPr>
          <p:nvPr>
            <p:ph type="body" idx="1"/>
          </p:nvPr>
        </p:nvSpPr>
        <p:spPr>
          <a:xfrm>
            <a:off x="393701" y="1977798"/>
            <a:ext cx="4904527" cy="418858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a:t>First sight :</a:t>
            </a:r>
            <a:endParaRPr sz="2000"/>
          </a:p>
          <a:p>
            <a:pPr marL="0" lvl="0" indent="0" algn="l" rtl="0">
              <a:lnSpc>
                <a:spcPct val="90000"/>
              </a:lnSpc>
              <a:spcBef>
                <a:spcPts val="1000"/>
              </a:spcBef>
              <a:spcAft>
                <a:spcPts val="0"/>
              </a:spcAft>
              <a:buClr>
                <a:schemeClr val="dk1"/>
              </a:buClr>
              <a:buSzPts val="2000"/>
              <a:buNone/>
            </a:pPr>
            <a:r>
              <a:rPr lang="en-US" sz="2000"/>
              <a:t>Large proportion showing Effect of Music (Both Improve and Worsen) on Mental Health: &gt;75%</a:t>
            </a:r>
            <a:endParaRPr/>
          </a:p>
          <a:p>
            <a:pPr marL="0" lvl="0" indent="0" algn="l" rtl="0">
              <a:lnSpc>
                <a:spcPct val="90000"/>
              </a:lnSpc>
              <a:spcBef>
                <a:spcPts val="1000"/>
              </a:spcBef>
              <a:spcAft>
                <a:spcPts val="0"/>
              </a:spcAft>
              <a:buClr>
                <a:schemeClr val="dk1"/>
              </a:buClr>
              <a:buSzPts val="2000"/>
              <a:buNone/>
            </a:pPr>
            <a:endParaRPr sz="2000"/>
          </a:p>
          <a:p>
            <a:pPr marL="0" lvl="0" indent="0" algn="l" rtl="0">
              <a:lnSpc>
                <a:spcPct val="90000"/>
              </a:lnSpc>
              <a:spcBef>
                <a:spcPts val="1000"/>
              </a:spcBef>
              <a:spcAft>
                <a:spcPts val="0"/>
              </a:spcAft>
              <a:buClr>
                <a:schemeClr val="dk1"/>
              </a:buClr>
              <a:buSzPts val="2000"/>
              <a:buNone/>
            </a:pPr>
            <a:r>
              <a:rPr lang="en-US" sz="2000"/>
              <a:t>Second insight:</a:t>
            </a:r>
            <a:endParaRPr/>
          </a:p>
          <a:p>
            <a:pPr marL="0" lvl="0" indent="0" algn="l" rtl="0">
              <a:lnSpc>
                <a:spcPct val="90000"/>
              </a:lnSpc>
              <a:spcBef>
                <a:spcPts val="1000"/>
              </a:spcBef>
              <a:spcAft>
                <a:spcPts val="0"/>
              </a:spcAft>
              <a:buClr>
                <a:schemeClr val="dk1"/>
              </a:buClr>
              <a:buSzPts val="2000"/>
              <a:buNone/>
            </a:pPr>
            <a:r>
              <a:rPr lang="en-US" sz="2000"/>
              <a:t>Majority in Improvement found in Mental Health with Music</a:t>
            </a:r>
            <a:endParaRPr/>
          </a:p>
          <a:p>
            <a:pPr marL="0" lvl="0" indent="0" algn="l" rtl="0">
              <a:lnSpc>
                <a:spcPct val="90000"/>
              </a:lnSpc>
              <a:spcBef>
                <a:spcPts val="1000"/>
              </a:spcBef>
              <a:spcAft>
                <a:spcPts val="0"/>
              </a:spcAft>
              <a:buClr>
                <a:schemeClr val="dk1"/>
              </a:buClr>
              <a:buSzPts val="2000"/>
              <a:buNone/>
            </a:pPr>
            <a:endParaRPr sz="2000"/>
          </a:p>
          <a:p>
            <a:pPr marL="0" lvl="0" indent="0" algn="l" rtl="0">
              <a:lnSpc>
                <a:spcPct val="90000"/>
              </a:lnSpc>
              <a:spcBef>
                <a:spcPts val="1000"/>
              </a:spcBef>
              <a:spcAft>
                <a:spcPts val="0"/>
              </a:spcAft>
              <a:buClr>
                <a:schemeClr val="dk1"/>
              </a:buClr>
              <a:buSzPts val="2000"/>
              <a:buNone/>
            </a:pPr>
            <a:r>
              <a:rPr lang="en-US" sz="2000"/>
              <a:t>Hypothesis matched</a:t>
            </a:r>
            <a:endParaRPr/>
          </a:p>
          <a:p>
            <a:pPr marL="0" lvl="0" indent="0" algn="l" rtl="0">
              <a:lnSpc>
                <a:spcPct val="90000"/>
              </a:lnSpc>
              <a:spcBef>
                <a:spcPts val="1000"/>
              </a:spcBef>
              <a:spcAft>
                <a:spcPts val="0"/>
              </a:spcAft>
              <a:buClr>
                <a:schemeClr val="dk1"/>
              </a:buClr>
              <a:buSzPts val="2000"/>
              <a:buNone/>
            </a:pPr>
            <a:r>
              <a:rPr lang="en-US" sz="2000"/>
              <a:t>🡺 Worth further study</a:t>
            </a:r>
            <a:endParaRPr sz="2000"/>
          </a:p>
        </p:txBody>
      </p:sp>
      <p:pic>
        <p:nvPicPr>
          <p:cNvPr id="164" name="Google Shape;164;p7"/>
          <p:cNvPicPr preferRelativeResize="0"/>
          <p:nvPr/>
        </p:nvPicPr>
        <p:blipFill rotWithShape="1">
          <a:blip r:embed="rId3">
            <a:alphaModFix/>
          </a:blip>
          <a:srcRect r="606" b="3805"/>
          <a:stretch/>
        </p:blipFill>
        <p:spPr>
          <a:xfrm>
            <a:off x="6292987" y="1217081"/>
            <a:ext cx="5209656" cy="4808408"/>
          </a:xfrm>
          <a:prstGeom prst="rect">
            <a:avLst/>
          </a:prstGeom>
          <a:noFill/>
          <a:ln>
            <a:noFill/>
          </a:ln>
        </p:spPr>
      </p:pic>
      <p:sp>
        <p:nvSpPr>
          <p:cNvPr id="165" name="Google Shape;165;p7"/>
          <p:cNvSpPr/>
          <p:nvPr/>
        </p:nvSpPr>
        <p:spPr>
          <a:xfrm>
            <a:off x="393708" y="1297139"/>
            <a:ext cx="3534900" cy="579000"/>
          </a:xfrm>
          <a:prstGeom prst="roundRect">
            <a:avLst>
              <a:gd name="adj" fmla="val 16667"/>
            </a:avLst>
          </a:prstGeom>
          <a:solidFill>
            <a:srgbClr val="D9E5F8"/>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0F4862"/>
                </a:solidFill>
                <a:latin typeface="Arial"/>
                <a:ea typeface="Arial"/>
                <a:cs typeface="Arial"/>
                <a:sym typeface="Arial"/>
              </a:rPr>
              <a:t>Univariate Analysis</a:t>
            </a:r>
            <a:endParaRPr sz="2800">
              <a:solidFill>
                <a:srgbClr val="0F486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9"/>
        <p:cNvGrpSpPr/>
        <p:nvPr/>
      </p:nvGrpSpPr>
      <p:grpSpPr>
        <a:xfrm>
          <a:off x="0" y="0"/>
          <a:ext cx="0" cy="0"/>
          <a:chOff x="0" y="0"/>
          <a:chExt cx="0" cy="0"/>
        </a:xfrm>
      </p:grpSpPr>
      <p:sp>
        <p:nvSpPr>
          <p:cNvPr id="170" name="Google Shape;170;p8"/>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8"/>
          <p:cNvSpPr/>
          <p:nvPr/>
        </p:nvSpPr>
        <p:spPr>
          <a:xfrm rot="10800000" flipH="1">
            <a:off x="0" y="0"/>
            <a:ext cx="12192000" cy="2371134"/>
          </a:xfrm>
          <a:custGeom>
            <a:avLst/>
            <a:gdLst/>
            <a:ahLst/>
            <a:cxnLst/>
            <a:rect l="l" t="t" r="r" b="b"/>
            <a:pathLst>
              <a:path w="12192000" h="2515690" extrusionOk="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72" name="Google Shape;172;p8"/>
          <p:cNvSpPr txBox="1">
            <a:spLocks noGrp="1"/>
          </p:cNvSpPr>
          <p:nvPr>
            <p:ph type="title"/>
          </p:nvPr>
        </p:nvSpPr>
        <p:spPr>
          <a:xfrm>
            <a:off x="838200" y="174625"/>
            <a:ext cx="10515600" cy="9302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F4862"/>
              </a:buClr>
              <a:buSzPts val="3600"/>
              <a:buFont typeface="Play"/>
              <a:buNone/>
            </a:pPr>
            <a:r>
              <a:rPr lang="en-US" sz="3600" b="1">
                <a:solidFill>
                  <a:srgbClr val="0F4862"/>
                </a:solidFill>
              </a:rPr>
              <a:t>Dataset Characteristics </a:t>
            </a:r>
            <a:br>
              <a:rPr lang="en-US" sz="3600" b="1"/>
            </a:br>
            <a:r>
              <a:rPr lang="en-US" sz="3600" b="1">
                <a:solidFill>
                  <a:srgbClr val="0F4862"/>
                </a:solidFill>
              </a:rPr>
              <a:t>- Variable Identification (Data Type)</a:t>
            </a:r>
            <a:endParaRPr sz="3600" b="1">
              <a:solidFill>
                <a:srgbClr val="0F4862"/>
              </a:solidFill>
            </a:endParaRPr>
          </a:p>
        </p:txBody>
      </p:sp>
      <p:graphicFrame>
        <p:nvGraphicFramePr>
          <p:cNvPr id="173" name="Google Shape;173;p8"/>
          <p:cNvGraphicFramePr/>
          <p:nvPr/>
        </p:nvGraphicFramePr>
        <p:xfrm>
          <a:off x="582083" y="1270000"/>
          <a:ext cx="3000000" cy="3000000"/>
        </p:xfrm>
        <a:graphic>
          <a:graphicData uri="http://schemas.openxmlformats.org/drawingml/2006/table">
            <a:tbl>
              <a:tblPr firstRow="1" bandRow="1">
                <a:noFill/>
                <a:tableStyleId>{7664B753-F66D-416E-A228-37840B97C773}</a:tableStyleId>
              </a:tblPr>
              <a:tblGrid>
                <a:gridCol w="2776225">
                  <a:extLst>
                    <a:ext uri="{9D8B030D-6E8A-4147-A177-3AD203B41FA5}">
                      <a16:colId xmlns:a16="http://schemas.microsoft.com/office/drawing/2014/main" val="20000"/>
                    </a:ext>
                  </a:extLst>
                </a:gridCol>
                <a:gridCol w="2314600">
                  <a:extLst>
                    <a:ext uri="{9D8B030D-6E8A-4147-A177-3AD203B41FA5}">
                      <a16:colId xmlns:a16="http://schemas.microsoft.com/office/drawing/2014/main" val="20001"/>
                    </a:ext>
                  </a:extLst>
                </a:gridCol>
                <a:gridCol w="3843825">
                  <a:extLst>
                    <a:ext uri="{9D8B030D-6E8A-4147-A177-3AD203B41FA5}">
                      <a16:colId xmlns:a16="http://schemas.microsoft.com/office/drawing/2014/main" val="20002"/>
                    </a:ext>
                  </a:extLst>
                </a:gridCol>
                <a:gridCol w="2014725">
                  <a:extLst>
                    <a:ext uri="{9D8B030D-6E8A-4147-A177-3AD203B41FA5}">
                      <a16:colId xmlns:a16="http://schemas.microsoft.com/office/drawing/2014/main" val="20003"/>
                    </a:ext>
                  </a:extLst>
                </a:gridCol>
              </a:tblGrid>
              <a:tr h="338825">
                <a:tc>
                  <a:txBody>
                    <a:bodyPr/>
                    <a:lstStyle/>
                    <a:p>
                      <a:pPr marL="0" marR="0" lvl="0" indent="0" algn="l" rtl="0">
                        <a:spcBef>
                          <a:spcPts val="0"/>
                        </a:spcBef>
                        <a:spcAft>
                          <a:spcPts val="0"/>
                        </a:spcAft>
                        <a:buClr>
                          <a:srgbClr val="FFFFFF"/>
                        </a:buClr>
                        <a:buSzPts val="1600"/>
                        <a:buFont typeface="Arial"/>
                        <a:buNone/>
                      </a:pPr>
                      <a:r>
                        <a:rPr lang="en-US" sz="1600" u="none" strike="noStrike" cap="none">
                          <a:solidFill>
                            <a:srgbClr val="FFFFFF"/>
                          </a:solidFill>
                        </a:rPr>
                        <a:t>Variable </a:t>
                      </a:r>
                      <a:r>
                        <a:rPr lang="en-US" sz="1600" u="none" strike="noStrike" cap="none"/>
                        <a:t>Categories</a:t>
                      </a:r>
                      <a:endParaRPr sz="1600" u="none" strike="noStrike" cap="none"/>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u="none" strike="noStrike" cap="none"/>
                        <a:t>Variable Type</a:t>
                      </a:r>
                      <a:endParaRPr/>
                    </a:p>
                  </a:txBody>
                  <a:tcPr marL="47400" marR="47400" marT="23700" marB="23700"/>
                </a:tc>
                <a:tc>
                  <a:txBody>
                    <a:bodyPr/>
                    <a:lstStyle/>
                    <a:p>
                      <a:pPr marL="0" marR="0" lvl="0" indent="0" algn="l" rtl="0">
                        <a:spcBef>
                          <a:spcPts val="0"/>
                        </a:spcBef>
                        <a:spcAft>
                          <a:spcPts val="0"/>
                        </a:spcAft>
                        <a:buNone/>
                      </a:pPr>
                      <a:r>
                        <a:rPr lang="en-US" sz="1600" u="none" strike="noStrike" cap="none"/>
                        <a:t>Variables</a:t>
                      </a:r>
                      <a:endParaRPr/>
                    </a:p>
                  </a:txBody>
                  <a:tcPr marL="47400" marR="47400" marT="23700" marB="23700"/>
                </a:tc>
                <a:tc>
                  <a:txBody>
                    <a:bodyPr/>
                    <a:lstStyle/>
                    <a:p>
                      <a:pPr marL="0" marR="0" lvl="0" indent="0" algn="l" rtl="0">
                        <a:spcBef>
                          <a:spcPts val="0"/>
                        </a:spcBef>
                        <a:spcAft>
                          <a:spcPts val="0"/>
                        </a:spcAft>
                        <a:buNone/>
                      </a:pPr>
                      <a:r>
                        <a:rPr lang="en-US" sz="1600"/>
                        <a:t>Data Type</a:t>
                      </a:r>
                      <a:endParaRPr/>
                    </a:p>
                  </a:txBody>
                  <a:tcPr marL="47400" marR="47400" marT="23700" marB="23700"/>
                </a:tc>
                <a:extLst>
                  <a:ext uri="{0D108BD9-81ED-4DB2-BD59-A6C34878D82A}">
                    <a16:rowId xmlns:a16="http://schemas.microsoft.com/office/drawing/2014/main" val="10000"/>
                  </a:ext>
                </a:extLst>
              </a:tr>
              <a:tr h="338825">
                <a:tc>
                  <a:txBody>
                    <a:bodyPr/>
                    <a:lstStyle/>
                    <a:p>
                      <a:pPr marL="0" marR="0" lvl="0" indent="0" algn="l" rtl="0">
                        <a:spcBef>
                          <a:spcPts val="0"/>
                        </a:spcBef>
                        <a:spcAft>
                          <a:spcPts val="0"/>
                        </a:spcAft>
                        <a:buClr>
                          <a:schemeClr val="dk1"/>
                        </a:buClr>
                        <a:buSzPts val="1600"/>
                        <a:buFont typeface="Arial"/>
                        <a:buNone/>
                      </a:pPr>
                      <a:r>
                        <a:rPr lang="en-US" sz="1600" u="none" strike="noStrike"/>
                        <a:t>Qualitative (Categorical)</a:t>
                      </a:r>
                      <a:endParaRPr sz="1600"/>
                    </a:p>
                  </a:txBody>
                  <a:tcPr marL="47400" marR="47400" marT="23700" marB="23700"/>
                </a:tc>
                <a:tc>
                  <a:txBody>
                    <a:bodyPr/>
                    <a:lstStyle/>
                    <a:p>
                      <a:pPr marL="0" marR="0" lvl="0" indent="0" algn="l" rtl="0">
                        <a:spcBef>
                          <a:spcPts val="0"/>
                        </a:spcBef>
                        <a:spcAft>
                          <a:spcPts val="0"/>
                        </a:spcAft>
                        <a:buNone/>
                      </a:pPr>
                      <a:r>
                        <a:rPr lang="en-US" sz="1600"/>
                        <a:t>Nominal</a:t>
                      </a:r>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u="none" strike="noStrike"/>
                        <a:t>Timestamp</a:t>
                      </a:r>
                      <a:endParaRPr/>
                    </a:p>
                  </a:txBody>
                  <a:tcPr marL="47400" marR="47400" marT="23700" marB="23700"/>
                </a:tc>
                <a:tc>
                  <a:txBody>
                    <a:bodyPr/>
                    <a:lstStyle/>
                    <a:p>
                      <a:pPr marL="0" marR="0" lvl="0" indent="0" algn="l" rtl="0">
                        <a:spcBef>
                          <a:spcPts val="0"/>
                        </a:spcBef>
                        <a:spcAft>
                          <a:spcPts val="0"/>
                        </a:spcAft>
                        <a:buNone/>
                      </a:pPr>
                      <a:r>
                        <a:rPr lang="en-US" sz="1600"/>
                        <a:t>String (Datetime)</a:t>
                      </a:r>
                      <a:endParaRPr/>
                    </a:p>
                  </a:txBody>
                  <a:tcPr marL="47400" marR="47400" marT="23700" marB="23700"/>
                </a:tc>
                <a:extLst>
                  <a:ext uri="{0D108BD9-81ED-4DB2-BD59-A6C34878D82A}">
                    <a16:rowId xmlns:a16="http://schemas.microsoft.com/office/drawing/2014/main" val="10001"/>
                  </a:ext>
                </a:extLst>
              </a:tr>
              <a:tr h="338825">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u="none" strike="noStrike"/>
                        <a:t>Primary streaming service</a:t>
                      </a:r>
                      <a:endParaRPr sz="1600"/>
                    </a:p>
                  </a:txBody>
                  <a:tcPr marL="47400" marR="47400" marT="23700" marB="23700"/>
                </a:tc>
                <a:tc>
                  <a:txBody>
                    <a:bodyPr/>
                    <a:lstStyle/>
                    <a:p>
                      <a:pPr marL="0" marR="0" lvl="0" indent="0" algn="l" rtl="0">
                        <a:spcBef>
                          <a:spcPts val="0"/>
                        </a:spcBef>
                        <a:spcAft>
                          <a:spcPts val="0"/>
                        </a:spcAft>
                        <a:buClr>
                          <a:srgbClr val="000000"/>
                        </a:buClr>
                        <a:buSzPts val="1600"/>
                        <a:buFont typeface="Arial"/>
                        <a:buNone/>
                      </a:pPr>
                      <a:r>
                        <a:rPr lang="en-US" sz="1600" u="none" strike="noStrike">
                          <a:solidFill>
                            <a:srgbClr val="000000"/>
                          </a:solidFill>
                        </a:rPr>
                        <a:t>String</a:t>
                      </a:r>
                      <a:endParaRPr sz="1600"/>
                    </a:p>
                  </a:txBody>
                  <a:tcPr marL="47400" marR="47400" marT="23700" marB="23700"/>
                </a:tc>
                <a:extLst>
                  <a:ext uri="{0D108BD9-81ED-4DB2-BD59-A6C34878D82A}">
                    <a16:rowId xmlns:a16="http://schemas.microsoft.com/office/drawing/2014/main" val="10002"/>
                  </a:ext>
                </a:extLst>
              </a:tr>
              <a:tr h="338825">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a:solidFill>
                            <a:srgbClr val="000000"/>
                          </a:solidFill>
                        </a:rPr>
                        <a:t>While working (Yes/No)</a:t>
                      </a:r>
                      <a:endParaRPr sz="1600"/>
                    </a:p>
                  </a:txBody>
                  <a:tcPr marL="47400" marR="47400" marT="23700" marB="23700"/>
                </a:tc>
                <a:tc>
                  <a:txBody>
                    <a:bodyPr/>
                    <a:lstStyle/>
                    <a:p>
                      <a:pPr marL="0" marR="0" lvl="0" indent="0" algn="l" rtl="0">
                        <a:spcBef>
                          <a:spcPts val="0"/>
                        </a:spcBef>
                        <a:spcAft>
                          <a:spcPts val="0"/>
                        </a:spcAft>
                        <a:buClr>
                          <a:srgbClr val="000000"/>
                        </a:buClr>
                        <a:buSzPts val="1600"/>
                        <a:buFont typeface="Arial"/>
                        <a:buNone/>
                      </a:pPr>
                      <a:r>
                        <a:rPr lang="en-US" sz="1600" u="none" strike="noStrike">
                          <a:solidFill>
                            <a:srgbClr val="000000"/>
                          </a:solidFill>
                        </a:rPr>
                        <a:t>Boolean</a:t>
                      </a:r>
                      <a:endParaRPr sz="1600"/>
                    </a:p>
                  </a:txBody>
                  <a:tcPr marL="47400" marR="47400" marT="23700" marB="23700"/>
                </a:tc>
                <a:extLst>
                  <a:ext uri="{0D108BD9-81ED-4DB2-BD59-A6C34878D82A}">
                    <a16:rowId xmlns:a16="http://schemas.microsoft.com/office/drawing/2014/main" val="10003"/>
                  </a:ext>
                </a:extLst>
              </a:tr>
              <a:tr h="338825">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u="none" strike="noStrike"/>
                        <a:t>Instrumentalist (Yes/No)</a:t>
                      </a:r>
                      <a:endParaRPr sz="1600"/>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a:t>Boolean</a:t>
                      </a:r>
                      <a:endParaRPr sz="1600"/>
                    </a:p>
                  </a:txBody>
                  <a:tcPr marL="47400" marR="47400" marT="23700" marB="23700"/>
                </a:tc>
                <a:extLst>
                  <a:ext uri="{0D108BD9-81ED-4DB2-BD59-A6C34878D82A}">
                    <a16:rowId xmlns:a16="http://schemas.microsoft.com/office/drawing/2014/main" val="10004"/>
                  </a:ext>
                </a:extLst>
              </a:tr>
              <a:tr h="338825">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u="none" strike="noStrike"/>
                        <a:t>Composer </a:t>
                      </a:r>
                      <a:r>
                        <a:rPr lang="en-US" sz="1600" u="none" strike="noStrike">
                          <a:solidFill>
                            <a:srgbClr val="000000"/>
                          </a:solidFill>
                        </a:rPr>
                        <a:t>(Yes/No)</a:t>
                      </a:r>
                      <a:endParaRPr sz="1600"/>
                    </a:p>
                  </a:txBody>
                  <a:tcPr marL="47400" marR="47400" marT="23700" marB="23700"/>
                </a:tc>
                <a:tc>
                  <a:txBody>
                    <a:bodyPr/>
                    <a:lstStyle/>
                    <a:p>
                      <a:pPr marL="0" marR="0" lvl="0" indent="0" algn="l" rtl="0">
                        <a:spcBef>
                          <a:spcPts val="0"/>
                        </a:spcBef>
                        <a:spcAft>
                          <a:spcPts val="0"/>
                        </a:spcAft>
                        <a:buClr>
                          <a:srgbClr val="000000"/>
                        </a:buClr>
                        <a:buSzPts val="1600"/>
                        <a:buFont typeface="Arial"/>
                        <a:buNone/>
                      </a:pPr>
                      <a:r>
                        <a:rPr lang="en-US" sz="1600" u="none" strike="noStrike">
                          <a:solidFill>
                            <a:srgbClr val="000000"/>
                          </a:solidFill>
                        </a:rPr>
                        <a:t>Boolean</a:t>
                      </a:r>
                      <a:endParaRPr sz="1600"/>
                    </a:p>
                  </a:txBody>
                  <a:tcPr marL="47400" marR="47400" marT="23700" marB="23700"/>
                </a:tc>
                <a:extLst>
                  <a:ext uri="{0D108BD9-81ED-4DB2-BD59-A6C34878D82A}">
                    <a16:rowId xmlns:a16="http://schemas.microsoft.com/office/drawing/2014/main" val="10005"/>
                  </a:ext>
                </a:extLst>
              </a:tr>
              <a:tr h="338825">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u="none" strike="noStrike"/>
                        <a:t>Fav genre</a:t>
                      </a:r>
                      <a:endParaRPr sz="1600"/>
                    </a:p>
                  </a:txBody>
                  <a:tcPr marL="47400" marR="47400" marT="23700" marB="23700"/>
                </a:tc>
                <a:tc>
                  <a:txBody>
                    <a:bodyPr/>
                    <a:lstStyle/>
                    <a:p>
                      <a:pPr marL="0" marR="0" lvl="0" indent="0" algn="l" rtl="0">
                        <a:spcBef>
                          <a:spcPts val="0"/>
                        </a:spcBef>
                        <a:spcAft>
                          <a:spcPts val="0"/>
                        </a:spcAft>
                        <a:buClr>
                          <a:srgbClr val="000000"/>
                        </a:buClr>
                        <a:buSzPts val="1600"/>
                        <a:buFont typeface="Arial"/>
                        <a:buNone/>
                      </a:pPr>
                      <a:r>
                        <a:rPr lang="en-US" sz="1600" u="none" strike="noStrike">
                          <a:solidFill>
                            <a:srgbClr val="000000"/>
                          </a:solidFill>
                        </a:rPr>
                        <a:t>String</a:t>
                      </a:r>
                      <a:endParaRPr sz="1600"/>
                    </a:p>
                  </a:txBody>
                  <a:tcPr marL="47400" marR="47400" marT="23700" marB="23700"/>
                </a:tc>
                <a:extLst>
                  <a:ext uri="{0D108BD9-81ED-4DB2-BD59-A6C34878D82A}">
                    <a16:rowId xmlns:a16="http://schemas.microsoft.com/office/drawing/2014/main" val="10006"/>
                  </a:ext>
                </a:extLst>
              </a:tr>
              <a:tr h="338825">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lnSpc>
                          <a:spcPct val="100000"/>
                        </a:lnSpc>
                        <a:spcBef>
                          <a:spcPts val="0"/>
                        </a:spcBef>
                        <a:spcAft>
                          <a:spcPts val="0"/>
                        </a:spcAft>
                        <a:buClr>
                          <a:schemeClr val="dk1"/>
                        </a:buClr>
                        <a:buSzPts val="1600"/>
                        <a:buFont typeface="Arial"/>
                        <a:buNone/>
                      </a:pPr>
                      <a:r>
                        <a:rPr lang="en-US" sz="1600" u="none" strike="noStrike"/>
                        <a:t>Exploratory </a:t>
                      </a:r>
                      <a:r>
                        <a:rPr lang="en-US" sz="1600" u="none" strike="noStrike">
                          <a:solidFill>
                            <a:srgbClr val="000000"/>
                          </a:solidFill>
                        </a:rPr>
                        <a:t>(Yes/No)</a:t>
                      </a:r>
                      <a:endParaRPr sz="1600"/>
                    </a:p>
                  </a:txBody>
                  <a:tcPr marL="47400" marR="47400" marT="23700" marB="23700"/>
                </a:tc>
                <a:tc>
                  <a:txBody>
                    <a:bodyPr/>
                    <a:lstStyle/>
                    <a:p>
                      <a:pPr marL="0" marR="0" lvl="0" indent="0" algn="l" rtl="0">
                        <a:spcBef>
                          <a:spcPts val="0"/>
                        </a:spcBef>
                        <a:spcAft>
                          <a:spcPts val="0"/>
                        </a:spcAft>
                        <a:buClr>
                          <a:srgbClr val="000000"/>
                        </a:buClr>
                        <a:buSzPts val="1600"/>
                        <a:buFont typeface="Arial"/>
                        <a:buNone/>
                      </a:pPr>
                      <a:r>
                        <a:rPr lang="en-US" sz="1600" u="none" strike="noStrike">
                          <a:solidFill>
                            <a:srgbClr val="000000"/>
                          </a:solidFill>
                        </a:rPr>
                        <a:t>Boolean</a:t>
                      </a:r>
                      <a:endParaRPr sz="1600"/>
                    </a:p>
                  </a:txBody>
                  <a:tcPr marL="47400" marR="47400" marT="23700" marB="23700"/>
                </a:tc>
                <a:extLst>
                  <a:ext uri="{0D108BD9-81ED-4DB2-BD59-A6C34878D82A}">
                    <a16:rowId xmlns:a16="http://schemas.microsoft.com/office/drawing/2014/main" val="10007"/>
                  </a:ext>
                </a:extLst>
              </a:tr>
              <a:tr h="338825">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a:solidFill>
                            <a:srgbClr val="000000"/>
                          </a:solidFill>
                        </a:rPr>
                        <a:t>Foreign languages (Yes/No)</a:t>
                      </a:r>
                      <a:endParaRPr sz="1600"/>
                    </a:p>
                  </a:txBody>
                  <a:tcPr marL="47400" marR="47400" marT="23700" marB="23700"/>
                </a:tc>
                <a:tc>
                  <a:txBody>
                    <a:bodyPr/>
                    <a:lstStyle/>
                    <a:p>
                      <a:pPr marL="0" marR="0" lvl="0" indent="0" algn="l" rtl="0">
                        <a:spcBef>
                          <a:spcPts val="0"/>
                        </a:spcBef>
                        <a:spcAft>
                          <a:spcPts val="0"/>
                        </a:spcAft>
                        <a:buClr>
                          <a:srgbClr val="000000"/>
                        </a:buClr>
                        <a:buSzPts val="1600"/>
                        <a:buFont typeface="Arial"/>
                        <a:buNone/>
                      </a:pPr>
                      <a:r>
                        <a:rPr lang="en-US" sz="1600" u="none" strike="noStrike">
                          <a:solidFill>
                            <a:srgbClr val="000000"/>
                          </a:solidFill>
                        </a:rPr>
                        <a:t>Boolean</a:t>
                      </a:r>
                      <a:endParaRPr sz="1600"/>
                    </a:p>
                  </a:txBody>
                  <a:tcPr marL="47400" marR="47400" marT="23700" marB="23700"/>
                </a:tc>
                <a:extLst>
                  <a:ext uri="{0D108BD9-81ED-4DB2-BD59-A6C34878D82A}">
                    <a16:rowId xmlns:a16="http://schemas.microsoft.com/office/drawing/2014/main" val="10008"/>
                  </a:ext>
                </a:extLst>
              </a:tr>
              <a:tr h="338825">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rgbClr val="000000"/>
                        </a:buClr>
                        <a:buSzPts val="1600"/>
                        <a:buFont typeface="Arial"/>
                        <a:buNone/>
                      </a:pPr>
                      <a:r>
                        <a:rPr lang="en-US" sz="1600" u="none" strike="noStrike">
                          <a:solidFill>
                            <a:srgbClr val="000000"/>
                          </a:solidFill>
                        </a:rPr>
                        <a:t>Ordinal</a:t>
                      </a:r>
                      <a:endParaRPr sz="1600"/>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u="none" strike="noStrike"/>
                        <a:t>Frequency of 16 music genres </a:t>
                      </a:r>
                      <a:endParaRPr sz="1600"/>
                    </a:p>
                  </a:txBody>
                  <a:tcPr marL="47400" marR="47400" marT="23700" marB="23700"/>
                </a:tc>
                <a:tc>
                  <a:txBody>
                    <a:bodyPr/>
                    <a:lstStyle/>
                    <a:p>
                      <a:pPr marL="0" marR="0" lvl="0" indent="0" algn="l" rtl="0">
                        <a:spcBef>
                          <a:spcPts val="0"/>
                        </a:spcBef>
                        <a:spcAft>
                          <a:spcPts val="0"/>
                        </a:spcAft>
                        <a:buClr>
                          <a:srgbClr val="000000"/>
                        </a:buClr>
                        <a:buSzPts val="1600"/>
                        <a:buFont typeface="Arial"/>
                        <a:buNone/>
                      </a:pPr>
                      <a:r>
                        <a:rPr lang="en-US" sz="1600" u="none" strike="noStrike">
                          <a:solidFill>
                            <a:srgbClr val="000000"/>
                          </a:solidFill>
                        </a:rPr>
                        <a:t>String</a:t>
                      </a:r>
                      <a:endParaRPr sz="1600"/>
                    </a:p>
                  </a:txBody>
                  <a:tcPr marL="47400" marR="47400" marT="23700" marB="23700"/>
                </a:tc>
                <a:extLst>
                  <a:ext uri="{0D108BD9-81ED-4DB2-BD59-A6C34878D82A}">
                    <a16:rowId xmlns:a16="http://schemas.microsoft.com/office/drawing/2014/main" val="10009"/>
                  </a:ext>
                </a:extLst>
              </a:tr>
              <a:tr h="590225">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lnSpc>
                          <a:spcPct val="100000"/>
                        </a:lnSpc>
                        <a:spcBef>
                          <a:spcPts val="0"/>
                        </a:spcBef>
                        <a:spcAft>
                          <a:spcPts val="0"/>
                        </a:spcAft>
                        <a:buClr>
                          <a:schemeClr val="dk1"/>
                        </a:buClr>
                        <a:buSzPts val="1600"/>
                        <a:buFont typeface="Arial"/>
                        <a:buNone/>
                      </a:pPr>
                      <a:r>
                        <a:rPr lang="en-US" sz="1600" u="none" strike="noStrike"/>
                        <a:t>Mental Health Disorder Ranking</a:t>
                      </a:r>
                      <a:br>
                        <a:rPr lang="en-US" sz="1600" u="none" strike="noStrike"/>
                      </a:br>
                      <a:r>
                        <a:rPr lang="en-US" sz="1600" u="none" strike="noStrike"/>
                        <a:t>(Anxiety, Depression, Insomnia ,OCD)</a:t>
                      </a:r>
                      <a:endParaRPr sz="1600"/>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a:t>Integer</a:t>
                      </a:r>
                      <a:endParaRPr/>
                    </a:p>
                  </a:txBody>
                  <a:tcPr marL="47400" marR="47400" marT="23700" marB="23700"/>
                </a:tc>
                <a:extLst>
                  <a:ext uri="{0D108BD9-81ED-4DB2-BD59-A6C34878D82A}">
                    <a16:rowId xmlns:a16="http://schemas.microsoft.com/office/drawing/2014/main" val="10010"/>
                  </a:ext>
                </a:extLst>
              </a:tr>
              <a:tr h="338825">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lnSpc>
                          <a:spcPct val="100000"/>
                        </a:lnSpc>
                        <a:spcBef>
                          <a:spcPts val="0"/>
                        </a:spcBef>
                        <a:spcAft>
                          <a:spcPts val="0"/>
                        </a:spcAft>
                        <a:buClr>
                          <a:schemeClr val="dk1"/>
                        </a:buClr>
                        <a:buSzPts val="1600"/>
                        <a:buFont typeface="Arial"/>
                        <a:buNone/>
                      </a:pPr>
                      <a:r>
                        <a:rPr lang="en-US" sz="1600" u="none" strike="noStrike"/>
                        <a:t>Music effects</a:t>
                      </a:r>
                      <a:endParaRPr sz="1600"/>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a:t>String</a:t>
                      </a:r>
                      <a:endParaRPr/>
                    </a:p>
                  </a:txBody>
                  <a:tcPr marL="47400" marR="47400" marT="23700" marB="23700"/>
                </a:tc>
                <a:extLst>
                  <a:ext uri="{0D108BD9-81ED-4DB2-BD59-A6C34878D82A}">
                    <a16:rowId xmlns:a16="http://schemas.microsoft.com/office/drawing/2014/main" val="10011"/>
                  </a:ext>
                </a:extLst>
              </a:tr>
              <a:tr h="338825">
                <a:tc>
                  <a:txBody>
                    <a:bodyPr/>
                    <a:lstStyle/>
                    <a:p>
                      <a:pPr marL="0" marR="0" lvl="0" indent="0" algn="l" rtl="0">
                        <a:spcBef>
                          <a:spcPts val="0"/>
                        </a:spcBef>
                        <a:spcAft>
                          <a:spcPts val="0"/>
                        </a:spcAft>
                        <a:buClr>
                          <a:srgbClr val="000000"/>
                        </a:buClr>
                        <a:buSzPts val="1600"/>
                        <a:buFont typeface="Arial"/>
                        <a:buNone/>
                      </a:pPr>
                      <a:r>
                        <a:rPr lang="en-US" sz="1600" u="none" strike="noStrike">
                          <a:solidFill>
                            <a:srgbClr val="000000"/>
                          </a:solidFill>
                        </a:rPr>
                        <a:t>Quantitative (Numerical)</a:t>
                      </a:r>
                      <a:endParaRPr sz="1600"/>
                    </a:p>
                  </a:txBody>
                  <a:tcPr marL="47400" marR="47400" marT="23700" marB="23700"/>
                </a:tc>
                <a:tc>
                  <a:txBody>
                    <a:bodyPr/>
                    <a:lstStyle/>
                    <a:p>
                      <a:pPr marL="0" marR="0" lvl="0" indent="0" algn="l" rtl="0">
                        <a:spcBef>
                          <a:spcPts val="0"/>
                        </a:spcBef>
                        <a:spcAft>
                          <a:spcPts val="0"/>
                        </a:spcAft>
                        <a:buClr>
                          <a:srgbClr val="000000"/>
                        </a:buClr>
                        <a:buSzPts val="1600"/>
                        <a:buFont typeface="Arial"/>
                        <a:buNone/>
                      </a:pPr>
                      <a:r>
                        <a:rPr lang="en-US" sz="1600" u="none" strike="noStrike">
                          <a:solidFill>
                            <a:srgbClr val="000000"/>
                          </a:solidFill>
                        </a:rPr>
                        <a:t>Discrete</a:t>
                      </a:r>
                      <a:endParaRPr sz="1600"/>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a:t>BPM</a:t>
                      </a:r>
                      <a:endParaRPr/>
                    </a:p>
                  </a:txBody>
                  <a:tcPr marL="47400" marR="47400" marT="23700" marB="23700"/>
                </a:tc>
                <a:tc>
                  <a:txBody>
                    <a:bodyPr/>
                    <a:lstStyle/>
                    <a:p>
                      <a:pPr marL="0" marR="0" lvl="0" indent="0" algn="l" rtl="0">
                        <a:spcBef>
                          <a:spcPts val="0"/>
                        </a:spcBef>
                        <a:spcAft>
                          <a:spcPts val="0"/>
                        </a:spcAft>
                        <a:buClr>
                          <a:srgbClr val="000000"/>
                        </a:buClr>
                        <a:buSzPts val="1600"/>
                        <a:buFont typeface="Arial"/>
                        <a:buNone/>
                      </a:pPr>
                      <a:r>
                        <a:rPr lang="en-US" sz="1600" u="none" strike="noStrike">
                          <a:solidFill>
                            <a:srgbClr val="000000"/>
                          </a:solidFill>
                        </a:rPr>
                        <a:t>Integer</a:t>
                      </a:r>
                      <a:endParaRPr sz="1600"/>
                    </a:p>
                  </a:txBody>
                  <a:tcPr marL="47400" marR="47400" marT="23700" marB="23700"/>
                </a:tc>
                <a:extLst>
                  <a:ext uri="{0D108BD9-81ED-4DB2-BD59-A6C34878D82A}">
                    <a16:rowId xmlns:a16="http://schemas.microsoft.com/office/drawing/2014/main" val="10012"/>
                  </a:ext>
                </a:extLst>
              </a:tr>
              <a:tr h="338825">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u="none" strike="noStrike"/>
                        <a:t>Continuous</a:t>
                      </a:r>
                      <a:endParaRPr sz="1600"/>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u="none" strike="noStrike"/>
                        <a:t>Hours per day</a:t>
                      </a:r>
                      <a:endParaRPr sz="1600"/>
                    </a:p>
                  </a:txBody>
                  <a:tcPr marL="47400" marR="47400" marT="23700" marB="23700"/>
                </a:tc>
                <a:tc>
                  <a:txBody>
                    <a:bodyPr/>
                    <a:lstStyle/>
                    <a:p>
                      <a:pPr marL="0" marR="0" lvl="0" indent="0" algn="l" rtl="0">
                        <a:spcBef>
                          <a:spcPts val="0"/>
                        </a:spcBef>
                        <a:spcAft>
                          <a:spcPts val="0"/>
                        </a:spcAft>
                        <a:buClr>
                          <a:srgbClr val="000000"/>
                        </a:buClr>
                        <a:buSzPts val="1600"/>
                        <a:buFont typeface="Arial"/>
                        <a:buNone/>
                      </a:pPr>
                      <a:r>
                        <a:rPr lang="en-US" sz="1600" u="none" strike="noStrike">
                          <a:solidFill>
                            <a:srgbClr val="000000"/>
                          </a:solidFill>
                        </a:rPr>
                        <a:t>Integer</a:t>
                      </a:r>
                      <a:endParaRPr sz="1600"/>
                    </a:p>
                  </a:txBody>
                  <a:tcPr marL="47400" marR="47400" marT="23700" marB="23700"/>
                </a:tc>
                <a:extLst>
                  <a:ext uri="{0D108BD9-81ED-4DB2-BD59-A6C34878D82A}">
                    <a16:rowId xmlns:a16="http://schemas.microsoft.com/office/drawing/2014/main" val="10013"/>
                  </a:ext>
                </a:extLst>
              </a:tr>
              <a:tr h="338825">
                <a:tc>
                  <a:txBody>
                    <a:bodyPr/>
                    <a:lstStyle/>
                    <a:p>
                      <a:pPr marL="0" marR="0" lvl="0" indent="0" algn="l" rtl="0">
                        <a:spcBef>
                          <a:spcPts val="0"/>
                        </a:spcBef>
                        <a:spcAft>
                          <a:spcPts val="0"/>
                        </a:spcAft>
                        <a:buClr>
                          <a:schemeClr val="dk1"/>
                        </a:buClr>
                        <a:buSzPts val="1600"/>
                        <a:buFont typeface="Arial"/>
                        <a:buNone/>
                      </a:pPr>
                      <a:endParaRPr sz="1600" u="none" strike="noStrike">
                        <a:solidFill>
                          <a:srgbClr val="000000"/>
                        </a:solidFill>
                      </a:endParaRPr>
                    </a:p>
                  </a:txBody>
                  <a:tcPr marL="47400" marR="47400" marT="23700" marB="23700"/>
                </a:tc>
                <a:tc>
                  <a:txBody>
                    <a:bodyPr/>
                    <a:lstStyle/>
                    <a:p>
                      <a:pPr marL="0" marR="0" lvl="0" indent="0" algn="l" rtl="0">
                        <a:spcBef>
                          <a:spcPts val="0"/>
                        </a:spcBef>
                        <a:spcAft>
                          <a:spcPts val="0"/>
                        </a:spcAft>
                        <a:buClr>
                          <a:schemeClr val="dk1"/>
                        </a:buClr>
                        <a:buSzPts val="1600"/>
                        <a:buFont typeface="Arial"/>
                        <a:buNone/>
                      </a:pPr>
                      <a:endParaRPr sz="1600" u="none" strike="noStrike"/>
                    </a:p>
                  </a:txBody>
                  <a:tcPr marL="47400" marR="47400" marT="23700" marB="23700"/>
                </a:tc>
                <a:tc>
                  <a:txBody>
                    <a:bodyPr/>
                    <a:lstStyle/>
                    <a:p>
                      <a:pPr marL="0" marR="0" lvl="0" indent="0" algn="l" rtl="0">
                        <a:spcBef>
                          <a:spcPts val="0"/>
                        </a:spcBef>
                        <a:spcAft>
                          <a:spcPts val="0"/>
                        </a:spcAft>
                        <a:buClr>
                          <a:schemeClr val="dk1"/>
                        </a:buClr>
                        <a:buSzPts val="1600"/>
                        <a:buFont typeface="Arial"/>
                        <a:buNone/>
                      </a:pPr>
                      <a:r>
                        <a:rPr lang="en-US" sz="1600" u="none" strike="noStrike"/>
                        <a:t>Age</a:t>
                      </a:r>
                      <a:endParaRPr/>
                    </a:p>
                  </a:txBody>
                  <a:tcPr marL="47400" marR="47400" marT="23700" marB="23700"/>
                </a:tc>
                <a:tc>
                  <a:txBody>
                    <a:bodyPr/>
                    <a:lstStyle/>
                    <a:p>
                      <a:pPr marL="0" marR="0" lvl="0" indent="0" algn="l" rtl="0">
                        <a:spcBef>
                          <a:spcPts val="0"/>
                        </a:spcBef>
                        <a:spcAft>
                          <a:spcPts val="0"/>
                        </a:spcAft>
                        <a:buClr>
                          <a:srgbClr val="000000"/>
                        </a:buClr>
                        <a:buSzPts val="1600"/>
                        <a:buFont typeface="Arial"/>
                        <a:buNone/>
                      </a:pPr>
                      <a:r>
                        <a:rPr lang="en-US" sz="1600" u="none" strike="noStrike">
                          <a:solidFill>
                            <a:srgbClr val="000000"/>
                          </a:solidFill>
                        </a:rPr>
                        <a:t>Integer</a:t>
                      </a:r>
                      <a:endParaRPr sz="1600"/>
                    </a:p>
                  </a:txBody>
                  <a:tcPr marL="47400" marR="47400" marT="23700" marB="23700"/>
                </a:tc>
                <a:extLst>
                  <a:ext uri="{0D108BD9-81ED-4DB2-BD59-A6C34878D82A}">
                    <a16:rowId xmlns:a16="http://schemas.microsoft.com/office/drawing/2014/main" val="1001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7"/>
        <p:cNvGrpSpPr/>
        <p:nvPr/>
      </p:nvGrpSpPr>
      <p:grpSpPr>
        <a:xfrm>
          <a:off x="0" y="0"/>
          <a:ext cx="0" cy="0"/>
          <a:chOff x="0" y="0"/>
          <a:chExt cx="0" cy="0"/>
        </a:xfrm>
      </p:grpSpPr>
      <p:sp>
        <p:nvSpPr>
          <p:cNvPr id="178" name="Google Shape;178;p9"/>
          <p:cNvSpPr txBox="1">
            <a:spLocks noGrp="1"/>
          </p:cNvSpPr>
          <p:nvPr>
            <p:ph type="title"/>
          </p:nvPr>
        </p:nvSpPr>
        <p:spPr>
          <a:xfrm>
            <a:off x="838200" y="-1587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Dataset Characteristics</a:t>
            </a:r>
            <a:endParaRPr/>
          </a:p>
        </p:txBody>
      </p:sp>
      <p:sp>
        <p:nvSpPr>
          <p:cNvPr id="179" name="Google Shape;179;p9"/>
          <p:cNvSpPr txBox="1"/>
          <p:nvPr/>
        </p:nvSpPr>
        <p:spPr>
          <a:xfrm>
            <a:off x="4744790" y="1698625"/>
            <a:ext cx="7032286" cy="378565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Raw: 700+ rows * 30+ columns </a:t>
            </a:r>
            <a:endParaRPr/>
          </a:p>
          <a:p>
            <a:pPr marL="285750" marR="0" lvl="0" indent="-28575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Data is semi-structural with potential handicap</a:t>
            </a:r>
            <a:endParaRPr/>
          </a:p>
          <a:p>
            <a:pPr marL="285750" marR="0" lvl="0" indent="-28575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EDA and cleansing required</a:t>
            </a:r>
            <a:endParaRPr/>
          </a:p>
          <a:p>
            <a:pPr marL="285750" marR="0" lvl="0" indent="-28575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Good for practice of the learned skill in this course</a:t>
            </a:r>
            <a:endParaRPr/>
          </a:p>
          <a:p>
            <a:pPr marL="285750" marR="0" lvl="0" indent="-133350" algn="l" rtl="0">
              <a:spcBef>
                <a:spcPts val="0"/>
              </a:spcBef>
              <a:spcAft>
                <a:spcPts val="0"/>
              </a:spcAft>
              <a:buClr>
                <a:schemeClr val="dk1"/>
              </a:buClr>
              <a:buSzPts val="2400"/>
              <a:buFont typeface="Arial"/>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r>
              <a:rPr lang="en-US" sz="2400">
                <a:solidFill>
                  <a:schemeClr val="dk1"/>
                </a:solidFill>
                <a:latin typeface="Arial"/>
                <a:ea typeface="Arial"/>
                <a:cs typeface="Arial"/>
                <a:sym typeface="Arial"/>
              </a:rPr>
              <a:t>Potential Data Problem:</a:t>
            </a:r>
            <a:endParaRPr/>
          </a:p>
          <a:p>
            <a:pPr marL="285750" marR="0" lvl="0" indent="-285750" algn="l" rtl="0">
              <a:spcBef>
                <a:spcPts val="0"/>
              </a:spcBef>
              <a:spcAft>
                <a:spcPts val="0"/>
              </a:spcAft>
              <a:buClr>
                <a:srgbClr val="FF0000"/>
              </a:buClr>
              <a:buSzPts val="2400"/>
              <a:buFont typeface="Arial"/>
              <a:buChar char="•"/>
            </a:pPr>
            <a:r>
              <a:rPr lang="en-US" sz="2400">
                <a:solidFill>
                  <a:srgbClr val="FF0000"/>
                </a:solidFill>
                <a:latin typeface="Arial"/>
                <a:ea typeface="Arial"/>
                <a:cs typeface="Arial"/>
                <a:sym typeface="Arial"/>
              </a:rPr>
              <a:t>Null value</a:t>
            </a:r>
            <a:endParaRPr/>
          </a:p>
          <a:p>
            <a:pPr marL="285750" marR="0" lvl="0" indent="-285750" algn="l" rtl="0">
              <a:spcBef>
                <a:spcPts val="0"/>
              </a:spcBef>
              <a:spcAft>
                <a:spcPts val="0"/>
              </a:spcAft>
              <a:buClr>
                <a:srgbClr val="00B0F0"/>
              </a:buClr>
              <a:buSzPts val="2400"/>
              <a:buFont typeface="Arial"/>
              <a:buChar char="•"/>
            </a:pPr>
            <a:r>
              <a:rPr lang="en-US" sz="2400">
                <a:solidFill>
                  <a:srgbClr val="00B0F0"/>
                </a:solidFill>
                <a:latin typeface="Arial"/>
                <a:ea typeface="Arial"/>
                <a:cs typeface="Arial"/>
                <a:sym typeface="Arial"/>
              </a:rPr>
              <a:t>Redundant / Irrelevant data</a:t>
            </a:r>
            <a:endParaRPr/>
          </a:p>
          <a:p>
            <a:pPr marL="285750" marR="0" lvl="0" indent="-285750" algn="l" rtl="0">
              <a:spcBef>
                <a:spcPts val="0"/>
              </a:spcBef>
              <a:spcAft>
                <a:spcPts val="0"/>
              </a:spcAft>
              <a:buClr>
                <a:srgbClr val="D86CCC"/>
              </a:buClr>
              <a:buSzPts val="2400"/>
              <a:buFont typeface="Arial"/>
              <a:buChar char="•"/>
            </a:pPr>
            <a:r>
              <a:rPr lang="en-US" sz="2400">
                <a:solidFill>
                  <a:srgbClr val="D86CCC"/>
                </a:solidFill>
                <a:latin typeface="Arial"/>
                <a:ea typeface="Arial"/>
                <a:cs typeface="Arial"/>
                <a:sym typeface="Arial"/>
              </a:rPr>
              <a:t>Erroneous / Non-sense input</a:t>
            </a:r>
            <a:endParaRPr sz="2400">
              <a:solidFill>
                <a:srgbClr val="D86CCC"/>
              </a:solidFill>
              <a:latin typeface="Arial"/>
              <a:ea typeface="Arial"/>
              <a:cs typeface="Arial"/>
              <a:sym typeface="Arial"/>
            </a:endParaRPr>
          </a:p>
        </p:txBody>
      </p:sp>
      <p:grpSp>
        <p:nvGrpSpPr>
          <p:cNvPr id="180" name="Google Shape;180;p9"/>
          <p:cNvGrpSpPr/>
          <p:nvPr/>
        </p:nvGrpSpPr>
        <p:grpSpPr>
          <a:xfrm>
            <a:off x="591246" y="1164506"/>
            <a:ext cx="3698418" cy="5581187"/>
            <a:chOff x="136163" y="1228006"/>
            <a:chExt cx="3698418" cy="5581187"/>
          </a:xfrm>
        </p:grpSpPr>
        <p:pic>
          <p:nvPicPr>
            <p:cNvPr id="181" name="Google Shape;181;p9"/>
            <p:cNvPicPr preferRelativeResize="0"/>
            <p:nvPr/>
          </p:nvPicPr>
          <p:blipFill rotWithShape="1">
            <a:blip r:embed="rId4">
              <a:alphaModFix/>
            </a:blip>
            <a:srcRect/>
            <a:stretch/>
          </p:blipFill>
          <p:spPr>
            <a:xfrm>
              <a:off x="136163" y="1228006"/>
              <a:ext cx="3698418" cy="4619661"/>
            </a:xfrm>
            <a:prstGeom prst="rect">
              <a:avLst/>
            </a:prstGeom>
            <a:noFill/>
            <a:ln>
              <a:noFill/>
            </a:ln>
          </p:spPr>
        </p:pic>
        <p:pic>
          <p:nvPicPr>
            <p:cNvPr id="182" name="Google Shape;182;p9"/>
            <p:cNvPicPr preferRelativeResize="0"/>
            <p:nvPr/>
          </p:nvPicPr>
          <p:blipFill rotWithShape="1">
            <a:blip r:embed="rId5">
              <a:alphaModFix/>
            </a:blip>
            <a:srcRect/>
            <a:stretch/>
          </p:blipFill>
          <p:spPr>
            <a:xfrm>
              <a:off x="136163" y="5847667"/>
              <a:ext cx="3698418" cy="942864"/>
            </a:xfrm>
            <a:prstGeom prst="rect">
              <a:avLst/>
            </a:prstGeom>
            <a:noFill/>
            <a:ln>
              <a:noFill/>
            </a:ln>
          </p:spPr>
        </p:pic>
        <p:sp>
          <p:nvSpPr>
            <p:cNvPr id="183" name="Google Shape;183;p9"/>
            <p:cNvSpPr/>
            <p:nvPr/>
          </p:nvSpPr>
          <p:spPr>
            <a:xfrm>
              <a:off x="2286000" y="3023118"/>
              <a:ext cx="951722" cy="405882"/>
            </a:xfrm>
            <a:prstGeom prst="ellipse">
              <a:avLst/>
            </a:prstGeom>
            <a:noFill/>
            <a:ln w="3810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4" name="Google Shape;184;p9"/>
            <p:cNvSpPr/>
            <p:nvPr/>
          </p:nvSpPr>
          <p:spPr>
            <a:xfrm>
              <a:off x="136163" y="6592858"/>
              <a:ext cx="1086147" cy="216335"/>
            </a:xfrm>
            <a:prstGeom prst="ellipse">
              <a:avLst/>
            </a:prstGeom>
            <a:noFill/>
            <a:ln w="381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5" name="Google Shape;185;p9"/>
            <p:cNvSpPr/>
            <p:nvPr/>
          </p:nvSpPr>
          <p:spPr>
            <a:xfrm>
              <a:off x="262640" y="1962292"/>
              <a:ext cx="1151119" cy="277055"/>
            </a:xfrm>
            <a:prstGeom prst="ellipse">
              <a:avLst/>
            </a:prstGeom>
            <a:noFill/>
            <a:ln w="38100" cap="flat" cmpd="sng">
              <a:solidFill>
                <a:srgbClr val="D86C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9"/>
        <p:cNvGrpSpPr/>
        <p:nvPr/>
      </p:nvGrpSpPr>
      <p:grpSpPr>
        <a:xfrm>
          <a:off x="0" y="0"/>
          <a:ext cx="0" cy="0"/>
          <a:chOff x="0" y="0"/>
          <a:chExt cx="0" cy="0"/>
        </a:xfrm>
      </p:grpSpPr>
      <p:sp>
        <p:nvSpPr>
          <p:cNvPr id="190" name="Google Shape;190;p10"/>
          <p:cNvSpPr txBox="1">
            <a:spLocks noGrp="1"/>
          </p:cNvSpPr>
          <p:nvPr>
            <p:ph type="title"/>
          </p:nvPr>
        </p:nvSpPr>
        <p:spPr>
          <a:xfrm>
            <a:off x="848783" y="-529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Data Cleansing – Null Value</a:t>
            </a:r>
            <a:endParaRPr>
              <a:solidFill>
                <a:srgbClr val="0F4862"/>
              </a:solidFill>
            </a:endParaRPr>
          </a:p>
        </p:txBody>
      </p:sp>
      <p:pic>
        <p:nvPicPr>
          <p:cNvPr id="191" name="Google Shape;191;p10" descr="一張含有 文字, 螢幕擷取畫面, 字型 的圖片&#10;&#10;AI 產生的內容可能不正確。"/>
          <p:cNvPicPr preferRelativeResize="0">
            <a:picLocks noGrp="1"/>
          </p:cNvPicPr>
          <p:nvPr>
            <p:ph type="body" idx="1"/>
          </p:nvPr>
        </p:nvPicPr>
        <p:blipFill rotWithShape="1">
          <a:blip r:embed="rId4">
            <a:alphaModFix/>
          </a:blip>
          <a:srcRect/>
          <a:stretch/>
        </p:blipFill>
        <p:spPr>
          <a:xfrm>
            <a:off x="667593" y="1570224"/>
            <a:ext cx="5428408" cy="1261185"/>
          </a:xfrm>
          <a:prstGeom prst="rect">
            <a:avLst/>
          </a:prstGeom>
          <a:noFill/>
          <a:ln>
            <a:noFill/>
          </a:ln>
        </p:spPr>
      </p:pic>
      <p:sp>
        <p:nvSpPr>
          <p:cNvPr id="192" name="Google Shape;192;p10"/>
          <p:cNvSpPr txBox="1"/>
          <p:nvPr/>
        </p:nvSpPr>
        <p:spPr>
          <a:xfrm>
            <a:off x="6237680" y="1969044"/>
            <a:ext cx="505617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4 columns contain null values</a:t>
            </a:r>
            <a:endParaRPr sz="1800">
              <a:solidFill>
                <a:schemeClr val="dk1"/>
              </a:solidFill>
              <a:latin typeface="Arial"/>
              <a:ea typeface="Arial"/>
              <a:cs typeface="Arial"/>
              <a:sym typeface="Arial"/>
            </a:endParaRPr>
          </a:p>
        </p:txBody>
      </p:sp>
      <p:sp>
        <p:nvSpPr>
          <p:cNvPr id="193" name="Google Shape;193;p10"/>
          <p:cNvSpPr/>
          <p:nvPr/>
        </p:nvSpPr>
        <p:spPr>
          <a:xfrm>
            <a:off x="5234197" y="3044076"/>
            <a:ext cx="1730222" cy="1780001"/>
          </a:xfrm>
          <a:prstGeom prst="downArrow">
            <a:avLst>
              <a:gd name="adj1" fmla="val 50000"/>
              <a:gd name="adj2" fmla="val 50000"/>
            </a:avLst>
          </a:prstGeom>
          <a:gradFill>
            <a:gsLst>
              <a:gs pos="0">
                <a:srgbClr val="9BADBE"/>
              </a:gs>
              <a:gs pos="50000">
                <a:srgbClr val="8DA1B2"/>
              </a:gs>
              <a:gs pos="100000">
                <a:srgbClr val="7893AA"/>
              </a:gs>
            </a:gsLst>
            <a:lin ang="5400000" scaled="0"/>
          </a:gra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94" name="Google Shape;194;p10"/>
          <p:cNvSpPr txBox="1"/>
          <p:nvPr/>
        </p:nvSpPr>
        <p:spPr>
          <a:xfrm>
            <a:off x="6239062" y="5473051"/>
            <a:ext cx="5389142" cy="46166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A 603 × 26 dataset is used in this study</a:t>
            </a:r>
            <a:endParaRPr sz="2400">
              <a:solidFill>
                <a:schemeClr val="dk1"/>
              </a:solidFill>
              <a:latin typeface="Arial"/>
              <a:ea typeface="Arial"/>
              <a:cs typeface="Arial"/>
              <a:sym typeface="Arial"/>
            </a:endParaRPr>
          </a:p>
        </p:txBody>
      </p:sp>
      <p:sp>
        <p:nvSpPr>
          <p:cNvPr id="195" name="Google Shape;195;p10"/>
          <p:cNvSpPr txBox="1"/>
          <p:nvPr/>
        </p:nvSpPr>
        <p:spPr>
          <a:xfrm>
            <a:off x="3578027" y="3551054"/>
            <a:ext cx="5056173"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a:solidFill>
                  <a:schemeClr val="dk1"/>
                </a:solidFill>
                <a:latin typeface="Arial"/>
                <a:ea typeface="Arial"/>
                <a:cs typeface="Arial"/>
                <a:sym typeface="Arial"/>
              </a:rPr>
              <a:t>Data Cleansing</a:t>
            </a:r>
            <a:endParaRPr/>
          </a:p>
        </p:txBody>
      </p:sp>
      <p:pic>
        <p:nvPicPr>
          <p:cNvPr id="196" name="Google Shape;196;p10" descr="一張含有 螢幕擷取畫面, 文字, 字型, 時鐘 的圖片&#10;&#10;AI 產生的內容可能不正確。"/>
          <p:cNvPicPr preferRelativeResize="0"/>
          <p:nvPr/>
        </p:nvPicPr>
        <p:blipFill rotWithShape="1">
          <a:blip r:embed="rId5">
            <a:alphaModFix/>
          </a:blip>
          <a:srcRect/>
          <a:stretch/>
        </p:blipFill>
        <p:spPr>
          <a:xfrm>
            <a:off x="3848781" y="4900586"/>
            <a:ext cx="2114550" cy="1771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0"/>
        <p:cNvGrpSpPr/>
        <p:nvPr/>
      </p:nvGrpSpPr>
      <p:grpSpPr>
        <a:xfrm>
          <a:off x="0" y="0"/>
          <a:ext cx="0" cy="0"/>
          <a:chOff x="0" y="0"/>
          <a:chExt cx="0" cy="0"/>
        </a:xfrm>
      </p:grpSpPr>
      <p:sp>
        <p:nvSpPr>
          <p:cNvPr id="201" name="Google Shape;201;p11"/>
          <p:cNvSpPr txBox="1">
            <a:spLocks noGrp="1"/>
          </p:cNvSpPr>
          <p:nvPr>
            <p:ph type="title"/>
          </p:nvPr>
        </p:nvSpPr>
        <p:spPr>
          <a:xfrm>
            <a:off x="838200" y="-529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Data Cleansing – Irrelevant Data</a:t>
            </a:r>
            <a:endParaRPr b="1">
              <a:solidFill>
                <a:srgbClr val="0F4862"/>
              </a:solidFill>
            </a:endParaRPr>
          </a:p>
        </p:txBody>
      </p:sp>
      <p:pic>
        <p:nvPicPr>
          <p:cNvPr id="202" name="Google Shape;202;p11" descr="一張含有 文字, 螢幕擷取畫面, 字型, 功能表 的圖片&#10;&#10;AI 產生的內容可能不正確。"/>
          <p:cNvPicPr preferRelativeResize="0">
            <a:picLocks noGrp="1"/>
          </p:cNvPicPr>
          <p:nvPr>
            <p:ph type="body" idx="1"/>
          </p:nvPr>
        </p:nvPicPr>
        <p:blipFill rotWithShape="1">
          <a:blip r:embed="rId4">
            <a:alphaModFix/>
          </a:blip>
          <a:srcRect/>
          <a:stretch/>
        </p:blipFill>
        <p:spPr>
          <a:xfrm>
            <a:off x="585434" y="1241949"/>
            <a:ext cx="2135943" cy="5362841"/>
          </a:xfrm>
          <a:prstGeom prst="rect">
            <a:avLst/>
          </a:prstGeom>
          <a:noFill/>
          <a:ln>
            <a:noFill/>
          </a:ln>
        </p:spPr>
      </p:pic>
      <p:graphicFrame>
        <p:nvGraphicFramePr>
          <p:cNvPr id="203" name="Google Shape;203;p11"/>
          <p:cNvGraphicFramePr/>
          <p:nvPr/>
        </p:nvGraphicFramePr>
        <p:xfrm>
          <a:off x="2911068" y="1883833"/>
          <a:ext cx="3000000" cy="3000000"/>
        </p:xfrm>
        <a:graphic>
          <a:graphicData uri="http://schemas.openxmlformats.org/drawingml/2006/table">
            <a:tbl>
              <a:tblPr firstRow="1" bandRow="1">
                <a:noFill/>
                <a:tableStyleId>{40043D9D-4229-4F28-B138-ECA96E75FBFB}</a:tableStyleId>
              </a:tblPr>
              <a:tblGrid>
                <a:gridCol w="3194525">
                  <a:extLst>
                    <a:ext uri="{9D8B030D-6E8A-4147-A177-3AD203B41FA5}">
                      <a16:colId xmlns:a16="http://schemas.microsoft.com/office/drawing/2014/main" val="20000"/>
                    </a:ext>
                  </a:extLst>
                </a:gridCol>
                <a:gridCol w="2930775">
                  <a:extLst>
                    <a:ext uri="{9D8B030D-6E8A-4147-A177-3AD203B41FA5}">
                      <a16:colId xmlns:a16="http://schemas.microsoft.com/office/drawing/2014/main" val="20001"/>
                    </a:ext>
                  </a:extLst>
                </a:gridCol>
                <a:gridCol w="2755950">
                  <a:extLst>
                    <a:ext uri="{9D8B030D-6E8A-4147-A177-3AD203B41FA5}">
                      <a16:colId xmlns:a16="http://schemas.microsoft.com/office/drawing/2014/main" val="20002"/>
                    </a:ext>
                  </a:extLst>
                </a:gridCol>
              </a:tblGrid>
              <a:tr h="691550">
                <a:tc>
                  <a:txBody>
                    <a:bodyPr/>
                    <a:lstStyle/>
                    <a:p>
                      <a:pPr marL="0" marR="0" lvl="0" indent="0" algn="ctr" rtl="0">
                        <a:spcBef>
                          <a:spcPts val="0"/>
                        </a:spcBef>
                        <a:spcAft>
                          <a:spcPts val="0"/>
                        </a:spcAft>
                        <a:buNone/>
                      </a:pPr>
                      <a:r>
                        <a:rPr lang="en-US" sz="1800">
                          <a:solidFill>
                            <a:srgbClr val="FFFFFF"/>
                          </a:solidFill>
                          <a:latin typeface="Arial"/>
                          <a:ea typeface="Arial"/>
                          <a:cs typeface="Arial"/>
                          <a:sym typeface="Arial"/>
                        </a:rPr>
                        <a:t>Columns in Focus </a:t>
                      </a:r>
                      <a:br>
                        <a:rPr lang="en-US" sz="1800">
                          <a:solidFill>
                            <a:srgbClr val="FFFFFF"/>
                          </a:solidFill>
                          <a:latin typeface="Arial"/>
                          <a:ea typeface="Arial"/>
                          <a:cs typeface="Arial"/>
                          <a:sym typeface="Arial"/>
                        </a:rPr>
                      </a:br>
                      <a:r>
                        <a:rPr lang="en-US" sz="1800">
                          <a:solidFill>
                            <a:srgbClr val="FFFFFF"/>
                          </a:solidFill>
                          <a:latin typeface="Arial"/>
                          <a:ea typeface="Arial"/>
                          <a:cs typeface="Arial"/>
                          <a:sym typeface="Arial"/>
                        </a:rPr>
                        <a:t>(Scope of this study)</a:t>
                      </a:r>
                      <a:endParaRPr/>
                    </a:p>
                  </a:txBody>
                  <a:tcPr marL="91450" marR="91450" marT="45725" marB="45725">
                    <a:lnR w="12700" cap="flat" cmpd="sng">
                      <a:solidFill>
                        <a:schemeClr val="lt1"/>
                      </a:solidFill>
                      <a:prstDash val="solid"/>
                      <a:round/>
                      <a:headEnd type="none" w="sm" len="sm"/>
                      <a:tailEnd type="none" w="sm" len="sm"/>
                    </a:lnR>
                    <a:solidFill>
                      <a:srgbClr val="308FBA"/>
                    </a:solidFill>
                  </a:tcPr>
                </a:tc>
                <a:tc>
                  <a:txBody>
                    <a:bodyPr/>
                    <a:lstStyle/>
                    <a:p>
                      <a:pPr marL="0" marR="0" lvl="0" indent="0" algn="ctr" rtl="0">
                        <a:spcBef>
                          <a:spcPts val="0"/>
                        </a:spcBef>
                        <a:spcAft>
                          <a:spcPts val="0"/>
                        </a:spcAft>
                        <a:buClr>
                          <a:srgbClr val="FFFF00"/>
                        </a:buClr>
                        <a:buSzPts val="2000"/>
                        <a:buFont typeface="Arial"/>
                        <a:buNone/>
                      </a:pPr>
                      <a:r>
                        <a:rPr lang="en-US" sz="2000">
                          <a:solidFill>
                            <a:srgbClr val="FFFF00"/>
                          </a:solidFill>
                          <a:latin typeface="Arial"/>
                          <a:ea typeface="Arial"/>
                          <a:cs typeface="Arial"/>
                          <a:sym typeface="Arial"/>
                        </a:rPr>
                        <a:t>Irrelevant Data</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solidFill>
                      <a:srgbClr val="308FBA"/>
                    </a:solidFill>
                  </a:tcPr>
                </a:tc>
                <a:tc>
                  <a:txBody>
                    <a:bodyPr/>
                    <a:lstStyle/>
                    <a:p>
                      <a:pPr marL="0" marR="0" lvl="0" indent="0" algn="ctr" rtl="0">
                        <a:spcBef>
                          <a:spcPts val="0"/>
                        </a:spcBef>
                        <a:spcAft>
                          <a:spcPts val="0"/>
                        </a:spcAft>
                        <a:buClr>
                          <a:srgbClr val="FFFFFF"/>
                        </a:buClr>
                        <a:buSzPts val="1800"/>
                        <a:buFont typeface="Arial"/>
                        <a:buNone/>
                      </a:pPr>
                      <a:r>
                        <a:rPr lang="en-US" sz="1800">
                          <a:solidFill>
                            <a:srgbClr val="FFFFFF"/>
                          </a:solidFill>
                          <a:latin typeface="Arial"/>
                          <a:ea typeface="Arial"/>
                          <a:cs typeface="Arial"/>
                          <a:sym typeface="Arial"/>
                        </a:rPr>
                        <a:t>Data that could be studied in future</a:t>
                      </a:r>
                      <a:endParaRPr/>
                    </a:p>
                  </a:txBody>
                  <a:tcPr marL="91450" marR="91450" marT="45725" marB="45725">
                    <a:lnL w="12700" cap="flat" cmpd="sng">
                      <a:solidFill>
                        <a:schemeClr val="lt1"/>
                      </a:solidFill>
                      <a:prstDash val="solid"/>
                      <a:round/>
                      <a:headEnd type="none" w="sm" len="sm"/>
                      <a:tailEnd type="none" w="sm" len="sm"/>
                    </a:lnL>
                    <a:solidFill>
                      <a:srgbClr val="308FBA"/>
                    </a:solidFill>
                  </a:tcPr>
                </a:tc>
                <a:extLst>
                  <a:ext uri="{0D108BD9-81ED-4DB2-BD59-A6C34878D82A}">
                    <a16:rowId xmlns:a16="http://schemas.microsoft.com/office/drawing/2014/main" val="10000"/>
                  </a:ext>
                </a:extLst>
              </a:tr>
              <a:tr h="3330100">
                <a:tc>
                  <a:txBody>
                    <a:bodyPr/>
                    <a:lstStyle/>
                    <a:p>
                      <a:pPr marL="0" marR="0" lvl="0" indent="0" algn="ctr" rtl="0">
                        <a:lnSpc>
                          <a:spcPct val="100000"/>
                        </a:lnSpc>
                        <a:spcBef>
                          <a:spcPts val="0"/>
                        </a:spcBef>
                        <a:spcAft>
                          <a:spcPts val="0"/>
                        </a:spcAft>
                        <a:buClr>
                          <a:srgbClr val="000000"/>
                        </a:buClr>
                        <a:buSzPts val="1800"/>
                        <a:buFont typeface="Arial"/>
                        <a:buNone/>
                      </a:pPr>
                      <a:r>
                        <a:rPr lang="en-US" sz="1800">
                          <a:solidFill>
                            <a:srgbClr val="000000"/>
                          </a:solidFill>
                        </a:rPr>
                        <a:t>Hours per day</a:t>
                      </a:r>
                      <a:endParaRPr sz="1800">
                        <a:solidFill>
                          <a:srgbClr val="000000"/>
                        </a:solidFill>
                      </a:endParaRPr>
                    </a:p>
                    <a:p>
                      <a:pPr marL="0" marR="0" lvl="0" indent="0" algn="ctr" rtl="0">
                        <a:lnSpc>
                          <a:spcPct val="100000"/>
                        </a:lnSpc>
                        <a:spcBef>
                          <a:spcPts val="0"/>
                        </a:spcBef>
                        <a:spcAft>
                          <a:spcPts val="0"/>
                        </a:spcAft>
                        <a:buClr>
                          <a:srgbClr val="000000"/>
                        </a:buClr>
                        <a:buSzPts val="1800"/>
                        <a:buFont typeface="Arial"/>
                        <a:buNone/>
                      </a:pPr>
                      <a:r>
                        <a:rPr lang="en-US" sz="1800">
                          <a:solidFill>
                            <a:srgbClr val="000000"/>
                          </a:solidFill>
                        </a:rPr>
                        <a:t>Instrumentalist</a:t>
                      </a:r>
                      <a:endParaRPr sz="1800">
                        <a:solidFill>
                          <a:srgbClr val="000000"/>
                        </a:solidFill>
                      </a:endParaRPr>
                    </a:p>
                    <a:p>
                      <a:pPr marL="0" marR="0" lvl="0" indent="0" algn="ctr" rtl="0">
                        <a:lnSpc>
                          <a:spcPct val="100000"/>
                        </a:lnSpc>
                        <a:spcBef>
                          <a:spcPts val="0"/>
                        </a:spcBef>
                        <a:spcAft>
                          <a:spcPts val="0"/>
                        </a:spcAft>
                        <a:buClr>
                          <a:srgbClr val="000000"/>
                        </a:buClr>
                        <a:buSzPts val="1800"/>
                        <a:buFont typeface="Arial"/>
                        <a:buNone/>
                      </a:pPr>
                      <a:r>
                        <a:rPr lang="en-US" sz="1800">
                          <a:solidFill>
                            <a:srgbClr val="000000"/>
                          </a:solidFill>
                        </a:rPr>
                        <a:t>Composer</a:t>
                      </a:r>
                      <a:endParaRPr sz="1800">
                        <a:solidFill>
                          <a:srgbClr val="000000"/>
                        </a:solidFill>
                      </a:endParaRPr>
                    </a:p>
                    <a:p>
                      <a:pPr marL="0" marR="0" lvl="0" indent="0" algn="ctr" rtl="0">
                        <a:lnSpc>
                          <a:spcPct val="100000"/>
                        </a:lnSpc>
                        <a:spcBef>
                          <a:spcPts val="0"/>
                        </a:spcBef>
                        <a:spcAft>
                          <a:spcPts val="0"/>
                        </a:spcAft>
                        <a:buClr>
                          <a:srgbClr val="000000"/>
                        </a:buClr>
                        <a:buSzPts val="1800"/>
                        <a:buFont typeface="Arial"/>
                        <a:buNone/>
                      </a:pPr>
                      <a:r>
                        <a:rPr lang="en-US" sz="1800">
                          <a:solidFill>
                            <a:srgbClr val="000000"/>
                          </a:solidFill>
                        </a:rPr>
                        <a:t>Fav genre</a:t>
                      </a:r>
                      <a:endParaRPr sz="1800">
                        <a:solidFill>
                          <a:srgbClr val="000000"/>
                        </a:solidFill>
                      </a:endParaRPr>
                    </a:p>
                    <a:p>
                      <a:pPr marL="0" marR="0" lvl="0" indent="0" algn="ctr" rtl="0">
                        <a:lnSpc>
                          <a:spcPct val="100000"/>
                        </a:lnSpc>
                        <a:spcBef>
                          <a:spcPts val="0"/>
                        </a:spcBef>
                        <a:spcAft>
                          <a:spcPts val="0"/>
                        </a:spcAft>
                        <a:buClr>
                          <a:srgbClr val="000000"/>
                        </a:buClr>
                        <a:buSzPts val="1800"/>
                        <a:buFont typeface="Arial"/>
                        <a:buNone/>
                      </a:pPr>
                      <a:r>
                        <a:rPr lang="en-US" sz="1800">
                          <a:solidFill>
                            <a:srgbClr val="000000"/>
                          </a:solidFill>
                        </a:rPr>
                        <a:t>BPM</a:t>
                      </a:r>
                      <a:endParaRPr sz="1800">
                        <a:solidFill>
                          <a:srgbClr val="000000"/>
                        </a:solidFill>
                      </a:endParaRPr>
                    </a:p>
                    <a:p>
                      <a:pPr marL="0" marR="0" lvl="0" indent="0" algn="ctr" rtl="0">
                        <a:lnSpc>
                          <a:spcPct val="100000"/>
                        </a:lnSpc>
                        <a:spcBef>
                          <a:spcPts val="0"/>
                        </a:spcBef>
                        <a:spcAft>
                          <a:spcPts val="0"/>
                        </a:spcAft>
                        <a:buClr>
                          <a:srgbClr val="000000"/>
                        </a:buClr>
                        <a:buSzPts val="1800"/>
                        <a:buFont typeface="Arial"/>
                        <a:buNone/>
                      </a:pPr>
                      <a:r>
                        <a:rPr lang="en-US" sz="1800">
                          <a:solidFill>
                            <a:srgbClr val="000000"/>
                          </a:solidFill>
                        </a:rPr>
                        <a:t>Frequency of 16 music genres</a:t>
                      </a:r>
                      <a:endParaRPr sz="1800">
                        <a:solidFill>
                          <a:srgbClr val="000000"/>
                        </a:solidFill>
                      </a:endParaRPr>
                    </a:p>
                    <a:p>
                      <a:pPr marL="0" marR="0" lvl="0" indent="0" algn="ctr" rtl="0">
                        <a:lnSpc>
                          <a:spcPct val="100000"/>
                        </a:lnSpc>
                        <a:spcBef>
                          <a:spcPts val="0"/>
                        </a:spcBef>
                        <a:spcAft>
                          <a:spcPts val="0"/>
                        </a:spcAft>
                        <a:buClr>
                          <a:srgbClr val="000000"/>
                        </a:buClr>
                        <a:buSzPts val="1800"/>
                        <a:buFont typeface="Arial"/>
                        <a:buNone/>
                      </a:pPr>
                      <a:r>
                        <a:rPr lang="en-US" sz="1800">
                          <a:solidFill>
                            <a:srgbClr val="000000"/>
                          </a:solidFill>
                        </a:rPr>
                        <a:t>Anxiety</a:t>
                      </a:r>
                      <a:endParaRPr sz="1800">
                        <a:solidFill>
                          <a:srgbClr val="000000"/>
                        </a:solidFill>
                      </a:endParaRPr>
                    </a:p>
                    <a:p>
                      <a:pPr marL="0" marR="0" lvl="0" indent="0" algn="ctr" rtl="0">
                        <a:lnSpc>
                          <a:spcPct val="100000"/>
                        </a:lnSpc>
                        <a:spcBef>
                          <a:spcPts val="0"/>
                        </a:spcBef>
                        <a:spcAft>
                          <a:spcPts val="0"/>
                        </a:spcAft>
                        <a:buClr>
                          <a:srgbClr val="000000"/>
                        </a:buClr>
                        <a:buSzPts val="1800"/>
                        <a:buFont typeface="Arial"/>
                        <a:buNone/>
                      </a:pPr>
                      <a:r>
                        <a:rPr lang="en-US" sz="1800">
                          <a:solidFill>
                            <a:srgbClr val="000000"/>
                          </a:solidFill>
                        </a:rPr>
                        <a:t>Depression</a:t>
                      </a:r>
                      <a:endParaRPr sz="1800">
                        <a:solidFill>
                          <a:srgbClr val="000000"/>
                        </a:solidFill>
                      </a:endParaRPr>
                    </a:p>
                    <a:p>
                      <a:pPr marL="0" marR="0" lvl="0" indent="0" algn="ctr" rtl="0">
                        <a:lnSpc>
                          <a:spcPct val="100000"/>
                        </a:lnSpc>
                        <a:spcBef>
                          <a:spcPts val="0"/>
                        </a:spcBef>
                        <a:spcAft>
                          <a:spcPts val="0"/>
                        </a:spcAft>
                        <a:buClr>
                          <a:srgbClr val="000000"/>
                        </a:buClr>
                        <a:buSzPts val="1800"/>
                        <a:buFont typeface="Arial"/>
                        <a:buNone/>
                      </a:pPr>
                      <a:r>
                        <a:rPr lang="en-US" sz="1800">
                          <a:solidFill>
                            <a:srgbClr val="000000"/>
                          </a:solidFill>
                        </a:rPr>
                        <a:t>Insomnia</a:t>
                      </a:r>
                      <a:endParaRPr sz="1800">
                        <a:solidFill>
                          <a:srgbClr val="000000"/>
                        </a:solidFill>
                      </a:endParaRPr>
                    </a:p>
                    <a:p>
                      <a:pPr marL="0" marR="0" lvl="0" indent="0" algn="ctr" rtl="0">
                        <a:lnSpc>
                          <a:spcPct val="100000"/>
                        </a:lnSpc>
                        <a:spcBef>
                          <a:spcPts val="0"/>
                        </a:spcBef>
                        <a:spcAft>
                          <a:spcPts val="0"/>
                        </a:spcAft>
                        <a:buClr>
                          <a:srgbClr val="000000"/>
                        </a:buClr>
                        <a:buSzPts val="1800"/>
                        <a:buFont typeface="Arial"/>
                        <a:buNone/>
                      </a:pPr>
                      <a:r>
                        <a:rPr lang="en-US" sz="1800">
                          <a:solidFill>
                            <a:srgbClr val="000000"/>
                          </a:solidFill>
                        </a:rPr>
                        <a:t>OCD</a:t>
                      </a:r>
                      <a:endParaRPr sz="1800">
                        <a:solidFill>
                          <a:srgbClr val="000000"/>
                        </a:solidFill>
                      </a:endParaRPr>
                    </a:p>
                    <a:p>
                      <a:pPr marL="0" marR="0" lvl="0" indent="0" algn="ctr" rtl="0">
                        <a:spcBef>
                          <a:spcPts val="0"/>
                        </a:spcBef>
                        <a:spcAft>
                          <a:spcPts val="0"/>
                        </a:spcAft>
                        <a:buClr>
                          <a:srgbClr val="000000"/>
                        </a:buClr>
                        <a:buSzPts val="1800"/>
                        <a:buFont typeface="Arial"/>
                        <a:buNone/>
                      </a:pPr>
                      <a:r>
                        <a:rPr lang="en-US" sz="1800">
                          <a:solidFill>
                            <a:srgbClr val="000000"/>
                          </a:solidFill>
                        </a:rPr>
                        <a:t>Music effects</a:t>
                      </a:r>
                      <a:endParaRPr sz="1800">
                        <a:solidFill>
                          <a:srgbClr val="000000"/>
                        </a:solidFill>
                      </a:endParaRPr>
                    </a:p>
                  </a:txBody>
                  <a:tcPr marL="91450" marR="91450" marT="45725" marB="45725">
                    <a:lnR w="12700" cap="flat" cmpd="sng">
                      <a:solidFill>
                        <a:schemeClr val="lt1"/>
                      </a:solidFill>
                      <a:prstDash val="solid"/>
                      <a:round/>
                      <a:headEnd type="none" w="sm" len="sm"/>
                      <a:tailEnd type="none" w="sm" len="sm"/>
                    </a:lnR>
                  </a:tcPr>
                </a:tc>
                <a:tc>
                  <a:txBody>
                    <a:bodyPr/>
                    <a:lstStyle/>
                    <a:p>
                      <a:pPr marL="0" marR="0" lvl="0" indent="0" algn="ctr" rtl="0">
                        <a:spcBef>
                          <a:spcPts val="0"/>
                        </a:spcBef>
                        <a:spcAft>
                          <a:spcPts val="0"/>
                        </a:spcAft>
                        <a:buClr>
                          <a:srgbClr val="FF0000"/>
                        </a:buClr>
                        <a:buSzPts val="1800"/>
                        <a:buFont typeface="Arial"/>
                        <a:buNone/>
                      </a:pPr>
                      <a:r>
                        <a:rPr lang="en-US" sz="1800">
                          <a:solidFill>
                            <a:srgbClr val="FF0000"/>
                          </a:solidFill>
                        </a:rPr>
                        <a:t>Timestamp</a:t>
                      </a:r>
                      <a:endParaRPr/>
                    </a:p>
                    <a:p>
                      <a:pPr marL="0" marR="0" lvl="0" indent="0" algn="ctr" rtl="0">
                        <a:spcBef>
                          <a:spcPts val="0"/>
                        </a:spcBef>
                        <a:spcAft>
                          <a:spcPts val="0"/>
                        </a:spcAft>
                        <a:buClr>
                          <a:srgbClr val="FF0000"/>
                        </a:buClr>
                        <a:buSzPts val="1800"/>
                        <a:buFont typeface="Arial"/>
                        <a:buNone/>
                      </a:pPr>
                      <a:r>
                        <a:rPr lang="en-US" sz="1800">
                          <a:solidFill>
                            <a:srgbClr val="FF0000"/>
                          </a:solidFill>
                        </a:rPr>
                        <a:t>Primary streaming service</a:t>
                      </a:r>
                      <a:endParaRPr/>
                    </a:p>
                    <a:p>
                      <a:pPr marL="0" marR="0" lvl="0" indent="0" algn="ctr" rtl="0">
                        <a:spcBef>
                          <a:spcPts val="0"/>
                        </a:spcBef>
                        <a:spcAft>
                          <a:spcPts val="0"/>
                        </a:spcAft>
                        <a:buClr>
                          <a:srgbClr val="FF0000"/>
                        </a:buClr>
                        <a:buSzPts val="1800"/>
                        <a:buFont typeface="Arial"/>
                        <a:buNone/>
                      </a:pPr>
                      <a:r>
                        <a:rPr lang="en-US" sz="1800">
                          <a:solidFill>
                            <a:srgbClr val="FF0000"/>
                          </a:solidFill>
                        </a:rPr>
                        <a:t>Permission</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tcPr>
                </a:tc>
                <a:tc>
                  <a:txBody>
                    <a:bodyPr/>
                    <a:lstStyle/>
                    <a:p>
                      <a:pPr marL="0" marR="0" lvl="0" indent="0" algn="ctr" rtl="0">
                        <a:spcBef>
                          <a:spcPts val="0"/>
                        </a:spcBef>
                        <a:spcAft>
                          <a:spcPts val="0"/>
                        </a:spcAft>
                        <a:buClr>
                          <a:srgbClr val="000000"/>
                        </a:buClr>
                        <a:buSzPts val="1800"/>
                        <a:buFont typeface="Arial"/>
                        <a:buNone/>
                      </a:pPr>
                      <a:r>
                        <a:rPr lang="en-US" sz="1800">
                          <a:solidFill>
                            <a:srgbClr val="000000"/>
                          </a:solidFill>
                        </a:rPr>
                        <a:t>While working</a:t>
                      </a:r>
                      <a:endParaRPr/>
                    </a:p>
                    <a:p>
                      <a:pPr marL="0" marR="0" lvl="0" indent="0" algn="ctr" rtl="0">
                        <a:spcBef>
                          <a:spcPts val="0"/>
                        </a:spcBef>
                        <a:spcAft>
                          <a:spcPts val="0"/>
                        </a:spcAft>
                        <a:buClr>
                          <a:srgbClr val="000000"/>
                        </a:buClr>
                        <a:buSzPts val="1800"/>
                        <a:buFont typeface="Arial"/>
                        <a:buNone/>
                      </a:pPr>
                      <a:r>
                        <a:rPr lang="en-US" sz="1800">
                          <a:solidFill>
                            <a:srgbClr val="000000"/>
                          </a:solidFill>
                        </a:rPr>
                        <a:t>Age</a:t>
                      </a:r>
                      <a:endParaRPr/>
                    </a:p>
                    <a:p>
                      <a:pPr marL="0" marR="0" lvl="0" indent="0" algn="ctr" rtl="0">
                        <a:spcBef>
                          <a:spcPts val="0"/>
                        </a:spcBef>
                        <a:spcAft>
                          <a:spcPts val="0"/>
                        </a:spcAft>
                        <a:buClr>
                          <a:srgbClr val="000000"/>
                        </a:buClr>
                        <a:buSzPts val="1800"/>
                        <a:buFont typeface="Arial"/>
                        <a:buNone/>
                      </a:pPr>
                      <a:r>
                        <a:rPr lang="en-US" sz="1800">
                          <a:solidFill>
                            <a:srgbClr val="000000"/>
                          </a:solidFill>
                        </a:rPr>
                        <a:t>Exploratory</a:t>
                      </a:r>
                      <a:endParaRPr/>
                    </a:p>
                    <a:p>
                      <a:pPr marL="0" marR="0" lvl="0" indent="0" algn="ctr" rtl="0">
                        <a:spcBef>
                          <a:spcPts val="0"/>
                        </a:spcBef>
                        <a:spcAft>
                          <a:spcPts val="0"/>
                        </a:spcAft>
                        <a:buClr>
                          <a:srgbClr val="000000"/>
                        </a:buClr>
                        <a:buSzPts val="1800"/>
                        <a:buFont typeface="Arial"/>
                        <a:buNone/>
                      </a:pPr>
                      <a:r>
                        <a:rPr lang="en-US" sz="1800">
                          <a:solidFill>
                            <a:srgbClr val="000000"/>
                          </a:solidFill>
                        </a:rPr>
                        <a:t>Foreign languages</a:t>
                      </a:r>
                      <a:endParaRPr/>
                    </a:p>
                  </a:txBody>
                  <a:tcPr marL="91450" marR="91450" marT="45725" marB="45725">
                    <a:lnL w="12700" cap="flat" cmpd="sng">
                      <a:solidFill>
                        <a:schemeClr val="lt1"/>
                      </a:solidFill>
                      <a:prstDash val="solid"/>
                      <a:round/>
                      <a:headEnd type="none" w="sm" len="sm"/>
                      <a:tailEnd type="none" w="sm" len="sm"/>
                    </a:lnL>
                  </a:tcPr>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7"/>
        <p:cNvGrpSpPr/>
        <p:nvPr/>
      </p:nvGrpSpPr>
      <p:grpSpPr>
        <a:xfrm>
          <a:off x="0" y="0"/>
          <a:ext cx="0" cy="0"/>
          <a:chOff x="0" y="0"/>
          <a:chExt cx="0" cy="0"/>
        </a:xfrm>
      </p:grpSpPr>
      <p:sp>
        <p:nvSpPr>
          <p:cNvPr id="208" name="Google Shape;208;p12"/>
          <p:cNvSpPr txBox="1">
            <a:spLocks noGrp="1"/>
          </p:cNvSpPr>
          <p:nvPr>
            <p:ph type="title"/>
          </p:nvPr>
        </p:nvSpPr>
        <p:spPr>
          <a:xfrm>
            <a:off x="2117" y="-153459"/>
            <a:ext cx="12579349" cy="13149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sz="3900" b="1">
                <a:solidFill>
                  <a:srgbClr val="0F4862"/>
                </a:solidFill>
              </a:rPr>
              <a:t>Data Cleansing – Erroneous Data/ Non-sense input</a:t>
            </a:r>
            <a:endParaRPr sz="3900" b="1">
              <a:solidFill>
                <a:srgbClr val="0F4862"/>
              </a:solidFill>
            </a:endParaRPr>
          </a:p>
        </p:txBody>
      </p:sp>
      <p:pic>
        <p:nvPicPr>
          <p:cNvPr id="209" name="Google Shape;209;p12" descr="一張含有 文字, 字型, 螢幕擷取畫面, 數字 的圖片&#10;&#10;AI 產生的內容可能不正確。"/>
          <p:cNvPicPr preferRelativeResize="0"/>
          <p:nvPr/>
        </p:nvPicPr>
        <p:blipFill rotWithShape="1">
          <a:blip r:embed="rId4">
            <a:alphaModFix/>
          </a:blip>
          <a:srcRect/>
          <a:stretch/>
        </p:blipFill>
        <p:spPr>
          <a:xfrm>
            <a:off x="6090135" y="4180369"/>
            <a:ext cx="2067516" cy="1415264"/>
          </a:xfrm>
          <a:prstGeom prst="rect">
            <a:avLst/>
          </a:prstGeom>
          <a:noFill/>
          <a:ln>
            <a:noFill/>
          </a:ln>
        </p:spPr>
      </p:pic>
      <p:pic>
        <p:nvPicPr>
          <p:cNvPr id="210" name="Google Shape;210;p12" descr="一張含有 文字, 圖表, 螢幕擷取畫面, 繪圖 的圖片&#10;&#10;AI 產生的內容可能不正確。"/>
          <p:cNvPicPr preferRelativeResize="0">
            <a:picLocks noGrp="1"/>
          </p:cNvPicPr>
          <p:nvPr>
            <p:ph type="body" idx="1"/>
          </p:nvPr>
        </p:nvPicPr>
        <p:blipFill rotWithShape="1">
          <a:blip r:embed="rId5">
            <a:alphaModFix/>
          </a:blip>
          <a:srcRect/>
          <a:stretch/>
        </p:blipFill>
        <p:spPr>
          <a:xfrm>
            <a:off x="555285" y="1553830"/>
            <a:ext cx="5292438" cy="5052647"/>
          </a:xfrm>
          <a:prstGeom prst="rect">
            <a:avLst/>
          </a:prstGeom>
          <a:noFill/>
          <a:ln>
            <a:noFill/>
          </a:ln>
        </p:spPr>
      </p:pic>
      <p:sp>
        <p:nvSpPr>
          <p:cNvPr id="211" name="Google Shape;211;p12"/>
          <p:cNvSpPr txBox="1"/>
          <p:nvPr/>
        </p:nvSpPr>
        <p:spPr>
          <a:xfrm>
            <a:off x="6012313" y="1717306"/>
            <a:ext cx="6076667" cy="28007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Nonsense / erroneous / meaningless data includes:</a:t>
            </a:r>
            <a:endParaRPr sz="2000">
              <a:solidFill>
                <a:schemeClr val="dk1"/>
              </a:solidFill>
              <a:latin typeface="Arial"/>
              <a:ea typeface="Arial"/>
              <a:cs typeface="Arial"/>
              <a:sym typeface="Arial"/>
            </a:endParaRPr>
          </a:p>
          <a:p>
            <a:pPr marL="742950" marR="0" lvl="1" indent="-285750" algn="l" rtl="0">
              <a:spcBef>
                <a:spcPts val="0"/>
              </a:spcBef>
              <a:spcAft>
                <a:spcPts val="0"/>
              </a:spcAft>
              <a:buClr>
                <a:schemeClr val="dk1"/>
              </a:buClr>
              <a:buSzPts val="2000"/>
              <a:buFont typeface="Courier New"/>
              <a:buChar char="o"/>
            </a:pPr>
            <a:r>
              <a:rPr lang="en-US" sz="2000" b="0" i="0" u="none" strike="noStrike" cap="none">
                <a:solidFill>
                  <a:schemeClr val="dk1"/>
                </a:solidFill>
                <a:latin typeface="Arial"/>
                <a:ea typeface="Arial"/>
                <a:cs typeface="Arial"/>
                <a:sym typeface="Arial"/>
              </a:rPr>
              <a:t>Hours (of music playing) = 0</a:t>
            </a:r>
            <a:endParaRPr sz="2000" b="0" i="0" u="none" strike="noStrike" cap="none">
              <a:solidFill>
                <a:schemeClr val="dk1"/>
              </a:solidFill>
              <a:latin typeface="Arial"/>
              <a:ea typeface="Arial"/>
              <a:cs typeface="Arial"/>
              <a:sym typeface="Arial"/>
            </a:endParaRPr>
          </a:p>
          <a:p>
            <a:pPr marL="742950" marR="0" lvl="1" indent="-285750" algn="l" rtl="0">
              <a:spcBef>
                <a:spcPts val="0"/>
              </a:spcBef>
              <a:spcAft>
                <a:spcPts val="0"/>
              </a:spcAft>
              <a:buClr>
                <a:schemeClr val="dk1"/>
              </a:buClr>
              <a:buSzPts val="2000"/>
              <a:buFont typeface="Courier New"/>
              <a:buChar char="o"/>
            </a:pPr>
            <a:r>
              <a:rPr lang="en-US" sz="2000" b="0" i="0" u="none" strike="noStrike" cap="none">
                <a:solidFill>
                  <a:schemeClr val="dk1"/>
                </a:solidFill>
                <a:latin typeface="Arial"/>
                <a:ea typeface="Arial"/>
                <a:cs typeface="Arial"/>
                <a:sym typeface="Arial"/>
              </a:rPr>
              <a:t>BPM(Beat Per Minute) &lt; 50 or &gt; 200</a:t>
            </a:r>
            <a:endParaRPr/>
          </a:p>
          <a:p>
            <a:pPr marL="285750" marR="0" lvl="0" indent="-158750" algn="l" rtl="0">
              <a:spcBef>
                <a:spcPts val="0"/>
              </a:spcBef>
              <a:spcAft>
                <a:spcPts val="0"/>
              </a:spcAft>
              <a:buClr>
                <a:schemeClr val="dk1"/>
              </a:buClr>
              <a:buSzPts val="2000"/>
              <a:buFont typeface="Arial"/>
              <a:buNone/>
            </a:pPr>
            <a:endParaRPr sz="2000">
              <a:solidFill>
                <a:schemeClr val="dk1"/>
              </a:solidFill>
              <a:latin typeface="Arial"/>
              <a:ea typeface="Arial"/>
              <a:cs typeface="Arial"/>
              <a:sym typeface="Arial"/>
            </a:endParaRPr>
          </a:p>
          <a:p>
            <a:pPr marL="0" marR="0" lvl="0" indent="0" algn="l" rtl="0">
              <a:spcBef>
                <a:spcPts val="0"/>
              </a:spcBef>
              <a:spcAft>
                <a:spcPts val="0"/>
              </a:spcAft>
              <a:buNone/>
            </a:pPr>
            <a:r>
              <a:rPr lang="en-US" sz="2000">
                <a:solidFill>
                  <a:schemeClr val="dk1"/>
                </a:solidFill>
                <a:latin typeface="Arial"/>
                <a:ea typeface="Arial"/>
                <a:cs typeface="Arial"/>
                <a:sym typeface="Arial"/>
              </a:rPr>
              <a:t>Data cleansing for BPM:</a:t>
            </a:r>
            <a:endParaRPr sz="20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Define the standard BPM range for music</a:t>
            </a:r>
            <a:endParaRPr sz="20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Usual music BPM (Beat Per Minute)  range: 50 – 200</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pic>
        <p:nvPicPr>
          <p:cNvPr id="212" name="Google Shape;212;p12" descr="一張含有 文字, 字型, 螢幕擷取畫面, 圖形 的圖片&#10;&#10;AI 產生的內容可能不正確。"/>
          <p:cNvPicPr preferRelativeResize="0"/>
          <p:nvPr/>
        </p:nvPicPr>
        <p:blipFill rotWithShape="1">
          <a:blip r:embed="rId6">
            <a:alphaModFix/>
          </a:blip>
          <a:srcRect/>
          <a:stretch/>
        </p:blipFill>
        <p:spPr>
          <a:xfrm>
            <a:off x="6092712" y="5704988"/>
            <a:ext cx="5913761" cy="647532"/>
          </a:xfrm>
          <a:prstGeom prst="rect">
            <a:avLst/>
          </a:prstGeom>
          <a:noFill/>
          <a:ln>
            <a:noFill/>
          </a:ln>
        </p:spPr>
      </p:pic>
      <p:sp>
        <p:nvSpPr>
          <p:cNvPr id="213" name="Google Shape;213;p12"/>
          <p:cNvSpPr/>
          <p:nvPr/>
        </p:nvSpPr>
        <p:spPr>
          <a:xfrm>
            <a:off x="666750" y="878425"/>
            <a:ext cx="3842400" cy="579000"/>
          </a:xfrm>
          <a:prstGeom prst="roundRect">
            <a:avLst>
              <a:gd name="adj" fmla="val 16667"/>
            </a:avLst>
          </a:prstGeom>
          <a:solidFill>
            <a:srgbClr val="D9E5F8"/>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0F4862"/>
                </a:solidFill>
                <a:latin typeface="Arial"/>
                <a:ea typeface="Arial"/>
                <a:cs typeface="Arial"/>
                <a:sym typeface="Arial"/>
              </a:rPr>
              <a:t>Univariate Analysis</a:t>
            </a:r>
            <a:endParaRPr sz="2800">
              <a:solidFill>
                <a:srgbClr val="0F4862"/>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7"/>
        <p:cNvGrpSpPr/>
        <p:nvPr/>
      </p:nvGrpSpPr>
      <p:grpSpPr>
        <a:xfrm>
          <a:off x="0" y="0"/>
          <a:ext cx="0" cy="0"/>
          <a:chOff x="0" y="0"/>
          <a:chExt cx="0" cy="0"/>
        </a:xfrm>
      </p:grpSpPr>
      <p:sp>
        <p:nvSpPr>
          <p:cNvPr id="218" name="Google Shape;218;p13"/>
          <p:cNvSpPr txBox="1">
            <a:spLocks noGrp="1"/>
          </p:cNvSpPr>
          <p:nvPr>
            <p:ph type="title"/>
          </p:nvPr>
        </p:nvSpPr>
        <p:spPr>
          <a:xfrm>
            <a:off x="584200" y="-15875"/>
            <a:ext cx="10515600" cy="120914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Data Cleansing – Correlation Analysis</a:t>
            </a:r>
            <a:endParaRPr/>
          </a:p>
        </p:txBody>
      </p:sp>
      <p:pic>
        <p:nvPicPr>
          <p:cNvPr id="219" name="Google Shape;219;p13"/>
          <p:cNvPicPr preferRelativeResize="0"/>
          <p:nvPr/>
        </p:nvPicPr>
        <p:blipFill rotWithShape="1">
          <a:blip r:embed="rId4">
            <a:alphaModFix/>
          </a:blip>
          <a:srcRect/>
          <a:stretch/>
        </p:blipFill>
        <p:spPr>
          <a:xfrm>
            <a:off x="1003688" y="1690688"/>
            <a:ext cx="4748182" cy="3956819"/>
          </a:xfrm>
          <a:prstGeom prst="rect">
            <a:avLst/>
          </a:prstGeom>
          <a:noFill/>
          <a:ln>
            <a:noFill/>
          </a:ln>
        </p:spPr>
      </p:pic>
      <p:pic>
        <p:nvPicPr>
          <p:cNvPr id="220" name="Google Shape;220;p13"/>
          <p:cNvPicPr preferRelativeResize="0"/>
          <p:nvPr/>
        </p:nvPicPr>
        <p:blipFill rotWithShape="1">
          <a:blip r:embed="rId5">
            <a:alphaModFix/>
          </a:blip>
          <a:srcRect/>
          <a:stretch/>
        </p:blipFill>
        <p:spPr>
          <a:xfrm>
            <a:off x="584506" y="5805782"/>
            <a:ext cx="6231546" cy="687093"/>
          </a:xfrm>
          <a:prstGeom prst="rect">
            <a:avLst/>
          </a:prstGeom>
          <a:noFill/>
          <a:ln>
            <a:noFill/>
          </a:ln>
        </p:spPr>
      </p:pic>
      <p:sp>
        <p:nvSpPr>
          <p:cNvPr id="221" name="Google Shape;221;p13"/>
          <p:cNvSpPr txBox="1"/>
          <p:nvPr/>
        </p:nvSpPr>
        <p:spPr>
          <a:xfrm>
            <a:off x="6816052" y="1947741"/>
            <a:ext cx="5111787" cy="347787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DOUBT: Relation between the choice of Music Channel (col. Primary streaming service) and its effect on Mental Health (col. Music effects)</a:t>
            </a:r>
            <a:endParaRPr/>
          </a:p>
          <a:p>
            <a:pPr marL="285750" marR="0" lvl="0" indent="-158750" algn="l" rtl="0">
              <a:spcBef>
                <a:spcPts val="0"/>
              </a:spcBef>
              <a:spcAft>
                <a:spcPts val="0"/>
              </a:spcAft>
              <a:buClr>
                <a:schemeClr val="dk1"/>
              </a:buClr>
              <a:buSzPts val="2000"/>
              <a:buFont typeface="Arial"/>
              <a:buNone/>
            </a:pPr>
            <a:endParaRPr sz="20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A bivariate analysis with heatmap to study the correlation of the two </a:t>
            </a:r>
            <a:endParaRPr/>
          </a:p>
          <a:p>
            <a:pPr marL="285750" marR="0" lvl="0" indent="-158750" algn="l" rtl="0">
              <a:spcBef>
                <a:spcPts val="0"/>
              </a:spcBef>
              <a:spcAft>
                <a:spcPts val="0"/>
              </a:spcAft>
              <a:buClr>
                <a:schemeClr val="dk1"/>
              </a:buClr>
              <a:buSzPts val="2000"/>
              <a:buFont typeface="Arial"/>
              <a:buNone/>
            </a:pPr>
            <a:endParaRPr sz="20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Finding: Correlation near Zero</a:t>
            </a:r>
            <a:endParaRPr/>
          </a:p>
          <a:p>
            <a:pPr marL="285750" marR="0" lvl="0" indent="-158750" algn="l" rtl="0">
              <a:spcBef>
                <a:spcPts val="0"/>
              </a:spcBef>
              <a:spcAft>
                <a:spcPts val="0"/>
              </a:spcAft>
              <a:buClr>
                <a:schemeClr val="dk1"/>
              </a:buClr>
              <a:buSzPts val="2000"/>
              <a:buFont typeface="Arial"/>
              <a:buNone/>
            </a:pPr>
            <a:endParaRPr sz="20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An advanced analysis in next slide…</a:t>
            </a:r>
            <a:endParaRPr sz="2000">
              <a:solidFill>
                <a:schemeClr val="dk1"/>
              </a:solidFill>
              <a:latin typeface="Arial"/>
              <a:ea typeface="Arial"/>
              <a:cs typeface="Arial"/>
              <a:sym typeface="Arial"/>
            </a:endParaRPr>
          </a:p>
        </p:txBody>
      </p:sp>
      <p:sp>
        <p:nvSpPr>
          <p:cNvPr id="222" name="Google Shape;222;p13"/>
          <p:cNvSpPr/>
          <p:nvPr/>
        </p:nvSpPr>
        <p:spPr>
          <a:xfrm>
            <a:off x="1005425" y="1026575"/>
            <a:ext cx="3381900" cy="505800"/>
          </a:xfrm>
          <a:prstGeom prst="roundRect">
            <a:avLst>
              <a:gd name="adj" fmla="val 16667"/>
            </a:avLst>
          </a:prstGeom>
          <a:solidFill>
            <a:srgbClr val="D9E5F8"/>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0F4862"/>
                </a:solidFill>
                <a:latin typeface="Arial"/>
                <a:ea typeface="Arial"/>
                <a:cs typeface="Arial"/>
                <a:sym typeface="Arial"/>
              </a:rPr>
              <a:t>Bivariate Analysis</a:t>
            </a:r>
            <a:endParaRPr sz="2800" b="1">
              <a:solidFill>
                <a:srgbClr val="0F486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6"/>
        <p:cNvGrpSpPr/>
        <p:nvPr/>
      </p:nvGrpSpPr>
      <p:grpSpPr>
        <a:xfrm>
          <a:off x="0" y="0"/>
          <a:ext cx="0" cy="0"/>
          <a:chOff x="0" y="0"/>
          <a:chExt cx="0" cy="0"/>
        </a:xfrm>
      </p:grpSpPr>
      <p:sp>
        <p:nvSpPr>
          <p:cNvPr id="227" name="Google Shape;227;p14"/>
          <p:cNvSpPr txBox="1">
            <a:spLocks noGrp="1"/>
          </p:cNvSpPr>
          <p:nvPr>
            <p:ph type="title"/>
          </p:nvPr>
        </p:nvSpPr>
        <p:spPr>
          <a:xfrm>
            <a:off x="453750" y="-139000"/>
            <a:ext cx="10674900" cy="11889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F4862"/>
              </a:buClr>
              <a:buSzPct val="100000"/>
              <a:buFont typeface="Play"/>
              <a:buNone/>
            </a:pPr>
            <a:r>
              <a:rPr lang="en-US" b="1">
                <a:solidFill>
                  <a:srgbClr val="0F4862"/>
                </a:solidFill>
              </a:rPr>
              <a:t>Data Cleansing – Correlation Analysis (Adv)</a:t>
            </a:r>
            <a:endParaRPr b="1">
              <a:solidFill>
                <a:srgbClr val="0F4862"/>
              </a:solidFill>
            </a:endParaRPr>
          </a:p>
        </p:txBody>
      </p:sp>
      <p:pic>
        <p:nvPicPr>
          <p:cNvPr id="228" name="Google Shape;228;p14"/>
          <p:cNvPicPr preferRelativeResize="0"/>
          <p:nvPr/>
        </p:nvPicPr>
        <p:blipFill rotWithShape="1">
          <a:blip r:embed="rId4">
            <a:alphaModFix/>
          </a:blip>
          <a:srcRect/>
          <a:stretch/>
        </p:blipFill>
        <p:spPr>
          <a:xfrm>
            <a:off x="73404" y="1387981"/>
            <a:ext cx="6022596" cy="3764122"/>
          </a:xfrm>
          <a:prstGeom prst="rect">
            <a:avLst/>
          </a:prstGeom>
          <a:noFill/>
          <a:ln w="9525" cap="flat" cmpd="sng">
            <a:solidFill>
              <a:schemeClr val="dk1"/>
            </a:solidFill>
            <a:prstDash val="solid"/>
            <a:round/>
            <a:headEnd type="none" w="sm" len="sm"/>
            <a:tailEnd type="none" w="sm" len="sm"/>
          </a:ln>
        </p:spPr>
      </p:pic>
      <p:pic>
        <p:nvPicPr>
          <p:cNvPr id="229" name="Google Shape;229;p14"/>
          <p:cNvPicPr preferRelativeResize="0"/>
          <p:nvPr/>
        </p:nvPicPr>
        <p:blipFill rotWithShape="1">
          <a:blip r:embed="rId5">
            <a:alphaModFix/>
          </a:blip>
          <a:srcRect/>
          <a:stretch/>
        </p:blipFill>
        <p:spPr>
          <a:xfrm>
            <a:off x="6095999" y="1387981"/>
            <a:ext cx="6022597" cy="3764122"/>
          </a:xfrm>
          <a:prstGeom prst="rect">
            <a:avLst/>
          </a:prstGeom>
          <a:noFill/>
          <a:ln w="9525" cap="flat" cmpd="sng">
            <a:solidFill>
              <a:schemeClr val="dk1"/>
            </a:solidFill>
            <a:prstDash val="solid"/>
            <a:round/>
            <a:headEnd type="none" w="sm" len="sm"/>
            <a:tailEnd type="none" w="sm" len="sm"/>
          </a:ln>
        </p:spPr>
      </p:pic>
      <p:sp>
        <p:nvSpPr>
          <p:cNvPr id="230" name="Google Shape;230;p14"/>
          <p:cNvSpPr txBox="1"/>
          <p:nvPr/>
        </p:nvSpPr>
        <p:spPr>
          <a:xfrm>
            <a:off x="199262" y="5251629"/>
            <a:ext cx="5770879" cy="120032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i="1">
                <a:solidFill>
                  <a:schemeClr val="dk1"/>
                </a:solidFill>
                <a:latin typeface="Arial"/>
                <a:ea typeface="Arial"/>
                <a:cs typeface="Arial"/>
                <a:sym typeface="Arial"/>
              </a:rPr>
              <a:t>Left</a:t>
            </a:r>
            <a:r>
              <a:rPr lang="en-US" sz="1800">
                <a:solidFill>
                  <a:schemeClr val="dk1"/>
                </a:solidFill>
                <a:latin typeface="Arial"/>
                <a:ea typeface="Arial"/>
                <a:cs typeface="Arial"/>
                <a:sym typeface="Arial"/>
              </a:rPr>
              <a:t>: (vertically) not much different except Spotify</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Advantage: direct comparison between Channels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Defect and bias: based on Count of choice (e.g. Spotify is the most popular channel)</a:t>
            </a:r>
            <a:endParaRPr sz="1800">
              <a:solidFill>
                <a:schemeClr val="dk1"/>
              </a:solidFill>
              <a:latin typeface="Arial"/>
              <a:ea typeface="Arial"/>
              <a:cs typeface="Arial"/>
              <a:sym typeface="Arial"/>
            </a:endParaRPr>
          </a:p>
        </p:txBody>
      </p:sp>
      <p:sp>
        <p:nvSpPr>
          <p:cNvPr id="231" name="Google Shape;231;p14"/>
          <p:cNvSpPr txBox="1"/>
          <p:nvPr/>
        </p:nvSpPr>
        <p:spPr>
          <a:xfrm>
            <a:off x="6191378" y="5251629"/>
            <a:ext cx="5770879" cy="147732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i="1">
                <a:solidFill>
                  <a:schemeClr val="dk1"/>
                </a:solidFill>
                <a:latin typeface="Arial"/>
                <a:ea typeface="Arial"/>
                <a:cs typeface="Arial"/>
                <a:sym typeface="Arial"/>
              </a:rPr>
              <a:t>Right</a:t>
            </a:r>
            <a:r>
              <a:rPr lang="en-US" sz="1800">
                <a:solidFill>
                  <a:schemeClr val="dk1"/>
                </a:solidFill>
                <a:latin typeface="Arial"/>
                <a:ea typeface="Arial"/>
                <a:cs typeface="Arial"/>
                <a:sym typeface="Arial"/>
              </a:rPr>
              <a:t>: (vertically) not much different except Pandora</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Advantage: percentage calculation eliminates population bias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Defect and bias: sampling size problem (e.g. size of Pandora is the least, 10 only</a:t>
            </a:r>
            <a:endParaRPr sz="1800">
              <a:solidFill>
                <a:schemeClr val="dk1"/>
              </a:solidFill>
              <a:latin typeface="Arial"/>
              <a:ea typeface="Arial"/>
              <a:cs typeface="Arial"/>
              <a:sym typeface="Arial"/>
            </a:endParaRPr>
          </a:p>
        </p:txBody>
      </p:sp>
      <p:sp>
        <p:nvSpPr>
          <p:cNvPr id="232" name="Google Shape;232;p14"/>
          <p:cNvSpPr/>
          <p:nvPr/>
        </p:nvSpPr>
        <p:spPr>
          <a:xfrm>
            <a:off x="4532100" y="733500"/>
            <a:ext cx="3322200" cy="579000"/>
          </a:xfrm>
          <a:prstGeom prst="roundRect">
            <a:avLst>
              <a:gd name="adj" fmla="val 16667"/>
            </a:avLst>
          </a:prstGeom>
          <a:solidFill>
            <a:srgbClr val="D9E5F8"/>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0F4862"/>
                </a:solidFill>
                <a:latin typeface="Arial"/>
                <a:ea typeface="Arial"/>
                <a:cs typeface="Arial"/>
                <a:sym typeface="Arial"/>
              </a:rPr>
              <a:t>Bivariate Analysis</a:t>
            </a:r>
            <a:endParaRPr sz="2800" b="1">
              <a:solidFill>
                <a:srgbClr val="0F486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sp>
        <p:nvSpPr>
          <p:cNvPr id="237" name="Google Shape;237;p15"/>
          <p:cNvSpPr txBox="1">
            <a:spLocks noGrp="1"/>
          </p:cNvSpPr>
          <p:nvPr>
            <p:ph type="title"/>
          </p:nvPr>
        </p:nvSpPr>
        <p:spPr>
          <a:xfrm>
            <a:off x="453375" y="-3675"/>
            <a:ext cx="10900500" cy="8763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F4862"/>
              </a:buClr>
              <a:buSzPct val="100000"/>
              <a:buFont typeface="Play"/>
              <a:buNone/>
            </a:pPr>
            <a:r>
              <a:rPr lang="en-US" b="1">
                <a:solidFill>
                  <a:srgbClr val="0F4862"/>
                </a:solidFill>
              </a:rPr>
              <a:t>Data Cleansing – Correlation Analysis (Adv)</a:t>
            </a:r>
            <a:endParaRPr>
              <a:solidFill>
                <a:srgbClr val="0F4862"/>
              </a:solidFill>
            </a:endParaRPr>
          </a:p>
        </p:txBody>
      </p:sp>
      <p:pic>
        <p:nvPicPr>
          <p:cNvPr id="238" name="Google Shape;238;p15"/>
          <p:cNvPicPr preferRelativeResize="0"/>
          <p:nvPr/>
        </p:nvPicPr>
        <p:blipFill rotWithShape="1">
          <a:blip r:embed="rId4">
            <a:alphaModFix/>
          </a:blip>
          <a:srcRect/>
          <a:stretch/>
        </p:blipFill>
        <p:spPr>
          <a:xfrm>
            <a:off x="73404" y="1387981"/>
            <a:ext cx="6022596" cy="3764122"/>
          </a:xfrm>
          <a:prstGeom prst="rect">
            <a:avLst/>
          </a:prstGeom>
          <a:noFill/>
          <a:ln w="9525" cap="flat" cmpd="sng">
            <a:solidFill>
              <a:schemeClr val="dk1"/>
            </a:solidFill>
            <a:prstDash val="solid"/>
            <a:round/>
            <a:headEnd type="none" w="sm" len="sm"/>
            <a:tailEnd type="none" w="sm" len="sm"/>
          </a:ln>
        </p:spPr>
      </p:pic>
      <p:pic>
        <p:nvPicPr>
          <p:cNvPr id="239" name="Google Shape;239;p15"/>
          <p:cNvPicPr preferRelativeResize="0"/>
          <p:nvPr/>
        </p:nvPicPr>
        <p:blipFill rotWithShape="1">
          <a:blip r:embed="rId5">
            <a:alphaModFix/>
          </a:blip>
          <a:srcRect/>
          <a:stretch/>
        </p:blipFill>
        <p:spPr>
          <a:xfrm>
            <a:off x="6095999" y="1387981"/>
            <a:ext cx="6022597" cy="3764122"/>
          </a:xfrm>
          <a:prstGeom prst="rect">
            <a:avLst/>
          </a:prstGeom>
          <a:noFill/>
          <a:ln w="9525" cap="flat" cmpd="sng">
            <a:solidFill>
              <a:schemeClr val="dk1"/>
            </a:solidFill>
            <a:prstDash val="solid"/>
            <a:round/>
            <a:headEnd type="none" w="sm" len="sm"/>
            <a:tailEnd type="none" w="sm" len="sm"/>
          </a:ln>
        </p:spPr>
      </p:pic>
      <p:sp>
        <p:nvSpPr>
          <p:cNvPr id="240" name="Google Shape;240;p15"/>
          <p:cNvSpPr txBox="1"/>
          <p:nvPr/>
        </p:nvSpPr>
        <p:spPr>
          <a:xfrm>
            <a:off x="199262" y="5251629"/>
            <a:ext cx="5770879" cy="120032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Left: (vertically) not much different except Spotify</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Advantage: direct comparison between Channels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Defect and bias: based on Count of choice (e.g. Spotify is the most popular channel)</a:t>
            </a:r>
            <a:endParaRPr sz="1800">
              <a:solidFill>
                <a:schemeClr val="dk1"/>
              </a:solidFill>
              <a:latin typeface="Arial"/>
              <a:ea typeface="Arial"/>
              <a:cs typeface="Arial"/>
              <a:sym typeface="Arial"/>
            </a:endParaRPr>
          </a:p>
        </p:txBody>
      </p:sp>
      <p:sp>
        <p:nvSpPr>
          <p:cNvPr id="241" name="Google Shape;241;p15"/>
          <p:cNvSpPr txBox="1"/>
          <p:nvPr/>
        </p:nvSpPr>
        <p:spPr>
          <a:xfrm>
            <a:off x="6191378" y="5251629"/>
            <a:ext cx="5770879" cy="147732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Right: (vertically) not much different except Pandora</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Advantage: percentage calculation eliminates population bias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Defect and bias: sampling size problem (e.g. size of Pandora is the least, 10 only</a:t>
            </a:r>
            <a:endParaRPr sz="1800">
              <a:solidFill>
                <a:schemeClr val="dk1"/>
              </a:solidFill>
              <a:latin typeface="Arial"/>
              <a:ea typeface="Arial"/>
              <a:cs typeface="Arial"/>
              <a:sym typeface="Arial"/>
            </a:endParaRPr>
          </a:p>
        </p:txBody>
      </p:sp>
      <p:sp>
        <p:nvSpPr>
          <p:cNvPr id="242" name="Google Shape;242;p15"/>
          <p:cNvSpPr txBox="1"/>
          <p:nvPr/>
        </p:nvSpPr>
        <p:spPr>
          <a:xfrm rot="-590927">
            <a:off x="409057" y="3223876"/>
            <a:ext cx="1137388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0000"/>
                </a:solidFill>
                <a:highlight>
                  <a:srgbClr val="C0C0C0"/>
                </a:highlight>
                <a:latin typeface="Arial"/>
                <a:ea typeface="Arial"/>
                <a:cs typeface="Arial"/>
                <a:sym typeface="Arial"/>
              </a:rPr>
              <a:t>Conclusion: The relation is not obvious.  This attribute will be excluded from analysis.</a:t>
            </a:r>
            <a:endParaRPr sz="2400">
              <a:solidFill>
                <a:srgbClr val="FF0000"/>
              </a:solidFill>
              <a:highlight>
                <a:srgbClr val="C0C0C0"/>
              </a:highlight>
              <a:latin typeface="Arial"/>
              <a:ea typeface="Arial"/>
              <a:cs typeface="Arial"/>
              <a:sym typeface="Arial"/>
            </a:endParaRPr>
          </a:p>
        </p:txBody>
      </p:sp>
      <p:sp>
        <p:nvSpPr>
          <p:cNvPr id="243" name="Google Shape;243;p15"/>
          <p:cNvSpPr/>
          <p:nvPr/>
        </p:nvSpPr>
        <p:spPr>
          <a:xfrm>
            <a:off x="4532100" y="723725"/>
            <a:ext cx="3322200" cy="579000"/>
          </a:xfrm>
          <a:prstGeom prst="roundRect">
            <a:avLst>
              <a:gd name="adj" fmla="val 16667"/>
            </a:avLst>
          </a:prstGeom>
          <a:solidFill>
            <a:srgbClr val="D9E5F8"/>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0F4862"/>
                </a:solidFill>
                <a:latin typeface="Arial"/>
                <a:ea typeface="Arial"/>
                <a:cs typeface="Arial"/>
                <a:sym typeface="Arial"/>
              </a:rPr>
              <a:t>Bivariate Analysis</a:t>
            </a:r>
            <a:endParaRPr sz="2800" b="1">
              <a:solidFill>
                <a:srgbClr val="0F486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7"/>
        <p:cNvGrpSpPr/>
        <p:nvPr/>
      </p:nvGrpSpPr>
      <p:grpSpPr>
        <a:xfrm>
          <a:off x="0" y="0"/>
          <a:ext cx="0" cy="0"/>
          <a:chOff x="0" y="0"/>
          <a:chExt cx="0" cy="0"/>
        </a:xfrm>
      </p:grpSpPr>
      <p:sp>
        <p:nvSpPr>
          <p:cNvPr id="248" name="Google Shape;248;p16"/>
          <p:cNvSpPr txBox="1">
            <a:spLocks noGrp="1"/>
          </p:cNvSpPr>
          <p:nvPr>
            <p:ph type="title"/>
          </p:nvPr>
        </p:nvSpPr>
        <p:spPr>
          <a:xfrm>
            <a:off x="118535" y="5291"/>
            <a:ext cx="11976099" cy="1706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000"/>
              <a:buFont typeface="Play"/>
              <a:buNone/>
            </a:pPr>
            <a:r>
              <a:rPr lang="en-US" sz="4000" b="1">
                <a:solidFill>
                  <a:srgbClr val="0F4862"/>
                </a:solidFill>
              </a:rPr>
              <a:t>Bivariate Analysis and Implications</a:t>
            </a:r>
            <a:br>
              <a:rPr lang="en-US" sz="3200" b="1"/>
            </a:br>
            <a:r>
              <a:rPr lang="en-US" sz="2600" b="1">
                <a:solidFill>
                  <a:srgbClr val="0F4862"/>
                </a:solidFill>
              </a:rPr>
              <a:t>- Effect of Music Playing Duration on General Mental Health Improvement</a:t>
            </a:r>
            <a:endParaRPr sz="2600" b="1">
              <a:solidFill>
                <a:srgbClr val="0F4862"/>
              </a:solidFill>
            </a:endParaRPr>
          </a:p>
        </p:txBody>
      </p:sp>
      <p:pic>
        <p:nvPicPr>
          <p:cNvPr id="249" name="Google Shape;249;p16" descr="一張含有 文字, 螢幕擷取畫面, 圖表, 繪圖 的圖片&#10;&#10;AI 產生的內容可能不正確。"/>
          <p:cNvPicPr preferRelativeResize="0">
            <a:picLocks noGrp="1"/>
          </p:cNvPicPr>
          <p:nvPr>
            <p:ph type="body" idx="1"/>
          </p:nvPr>
        </p:nvPicPr>
        <p:blipFill rotWithShape="1">
          <a:blip r:embed="rId4">
            <a:alphaModFix/>
          </a:blip>
          <a:srcRect/>
          <a:stretch/>
        </p:blipFill>
        <p:spPr>
          <a:xfrm>
            <a:off x="694950" y="1796871"/>
            <a:ext cx="5108666" cy="3028621"/>
          </a:xfrm>
          <a:prstGeom prst="rect">
            <a:avLst/>
          </a:prstGeom>
          <a:noFill/>
          <a:ln>
            <a:noFill/>
          </a:ln>
        </p:spPr>
      </p:pic>
      <p:pic>
        <p:nvPicPr>
          <p:cNvPr id="250" name="Google Shape;250;p16" descr="一張含有 文字, 螢幕擷取畫面, Rectangle, 圖表 的圖片&#10;&#10;AI 產生的內容可能不正確。"/>
          <p:cNvPicPr preferRelativeResize="0"/>
          <p:nvPr/>
        </p:nvPicPr>
        <p:blipFill rotWithShape="1">
          <a:blip r:embed="rId5">
            <a:alphaModFix/>
          </a:blip>
          <a:srcRect/>
          <a:stretch/>
        </p:blipFill>
        <p:spPr>
          <a:xfrm>
            <a:off x="6101661" y="1798066"/>
            <a:ext cx="5107019" cy="3031827"/>
          </a:xfrm>
          <a:prstGeom prst="rect">
            <a:avLst/>
          </a:prstGeom>
          <a:noFill/>
          <a:ln>
            <a:noFill/>
          </a:ln>
        </p:spPr>
      </p:pic>
      <p:sp>
        <p:nvSpPr>
          <p:cNvPr id="251" name="Google Shape;251;p16"/>
          <p:cNvSpPr txBox="1"/>
          <p:nvPr/>
        </p:nvSpPr>
        <p:spPr>
          <a:xfrm>
            <a:off x="838200" y="4829907"/>
            <a:ext cx="8862600" cy="20319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(appear to be) Mental Improver has a tendency to listen to music around 3.5 hours</a:t>
            </a:r>
            <a:endParaRPr sz="18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Data is diverse and boundary is vague</a:t>
            </a:r>
            <a:endParaRPr sz="18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 relation is not proportionate or linear</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No </a:t>
            </a:r>
            <a:r>
              <a:rPr lang="en-US" sz="1800">
                <a:solidFill>
                  <a:schemeClr val="dk1"/>
                </a:solidFill>
              </a:rPr>
              <a:t>obvious</a:t>
            </a:r>
            <a:r>
              <a:rPr lang="en-US" sz="1800">
                <a:solidFill>
                  <a:schemeClr val="dk1"/>
                </a:solidFill>
                <a:latin typeface="Arial"/>
                <a:ea typeface="Arial"/>
                <a:cs typeface="Arial"/>
                <a:sym typeface="Arial"/>
              </a:rPr>
              <a:t> conclusion can be drawn simply from bivariate analysis on Mental Health Improvement and Music Playing Hour</a:t>
            </a:r>
            <a:endParaRPr sz="1800">
              <a:solidFill>
                <a:schemeClr val="dk1"/>
              </a:solidFill>
              <a:latin typeface="Arial"/>
              <a:ea typeface="Arial"/>
              <a:cs typeface="Arial"/>
              <a:sym typeface="Arial"/>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Noto Sans Symbols"/>
                <a:ea typeface="Noto Sans Symbols"/>
                <a:cs typeface="Noto Sans Symbols"/>
                <a:sym typeface="Noto Sans Symbols"/>
              </a:rPr>
              <a:t>🡺 </a:t>
            </a:r>
            <a:r>
              <a:rPr lang="en-US" sz="1800" b="1">
                <a:solidFill>
                  <a:srgbClr val="00B050"/>
                </a:solidFill>
                <a:latin typeface="Arial"/>
                <a:ea typeface="Arial"/>
                <a:cs typeface="Arial"/>
                <a:sym typeface="Arial"/>
              </a:rPr>
              <a:t>A deeper and </a:t>
            </a:r>
            <a:r>
              <a:rPr lang="en-US" sz="1800" b="1">
                <a:solidFill>
                  <a:srgbClr val="00B050"/>
                </a:solidFill>
              </a:rPr>
              <a:t>Multivariate</a:t>
            </a:r>
            <a:r>
              <a:rPr lang="en-US" sz="1800" b="1">
                <a:solidFill>
                  <a:srgbClr val="00B050"/>
                </a:solidFill>
                <a:latin typeface="Arial"/>
                <a:ea typeface="Arial"/>
                <a:cs typeface="Arial"/>
                <a:sym typeface="Arial"/>
              </a:rPr>
              <a:t> Analysis is required...</a:t>
            </a:r>
            <a:endParaRPr sz="1800" b="1">
              <a:solidFill>
                <a:srgbClr val="00B05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5"/>
        <p:cNvGrpSpPr/>
        <p:nvPr/>
      </p:nvGrpSpPr>
      <p:grpSpPr>
        <a:xfrm>
          <a:off x="0" y="0"/>
          <a:ext cx="0" cy="0"/>
          <a:chOff x="0" y="0"/>
          <a:chExt cx="0" cy="0"/>
        </a:xfrm>
      </p:grpSpPr>
      <p:sp>
        <p:nvSpPr>
          <p:cNvPr id="256" name="Google Shape;256;p17"/>
          <p:cNvSpPr txBox="1">
            <a:spLocks noGrp="1"/>
          </p:cNvSpPr>
          <p:nvPr>
            <p:ph type="title"/>
          </p:nvPr>
        </p:nvSpPr>
        <p:spPr>
          <a:xfrm>
            <a:off x="197825" y="-115200"/>
            <a:ext cx="11411700" cy="12198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F4862"/>
              </a:buClr>
              <a:buSzPct val="100000"/>
              <a:buFont typeface="Play"/>
              <a:buNone/>
            </a:pPr>
            <a:r>
              <a:rPr lang="en-US" sz="3600" b="1">
                <a:solidFill>
                  <a:srgbClr val="0F4862"/>
                </a:solidFill>
              </a:rPr>
              <a:t>Multivariate Analysis</a:t>
            </a:r>
            <a:r>
              <a:rPr lang="en-US" sz="3600" b="1">
                <a:solidFill>
                  <a:srgbClr val="0F4862"/>
                </a:solidFill>
                <a:latin typeface="Play"/>
                <a:ea typeface="Play"/>
                <a:cs typeface="Play"/>
                <a:sym typeface="Play"/>
              </a:rPr>
              <a:t> and Implications</a:t>
            </a:r>
            <a:br>
              <a:rPr lang="en-US" b="1">
                <a:solidFill>
                  <a:srgbClr val="0F4862"/>
                </a:solidFill>
              </a:rPr>
            </a:br>
            <a:r>
              <a:rPr lang="en-US" sz="3300" b="1">
                <a:solidFill>
                  <a:srgbClr val="0F4862"/>
                </a:solidFill>
                <a:latin typeface="Play"/>
                <a:ea typeface="Play"/>
                <a:cs typeface="Play"/>
                <a:sym typeface="Play"/>
              </a:rPr>
              <a:t>- Effect of Music Playing Duration on </a:t>
            </a:r>
            <a:r>
              <a:rPr lang="en-US" sz="3300" b="1">
                <a:solidFill>
                  <a:srgbClr val="0F4862"/>
                </a:solidFill>
              </a:rPr>
              <a:t>Mental Health Disorder</a:t>
            </a:r>
            <a:endParaRPr sz="3300" b="1">
              <a:solidFill>
                <a:srgbClr val="0F4862"/>
              </a:solidFill>
              <a:latin typeface="Play"/>
              <a:ea typeface="Play"/>
              <a:cs typeface="Play"/>
              <a:sym typeface="Play"/>
            </a:endParaRPr>
          </a:p>
        </p:txBody>
      </p:sp>
      <p:sp>
        <p:nvSpPr>
          <p:cNvPr id="257" name="Google Shape;257;p17"/>
          <p:cNvSpPr txBox="1"/>
          <p:nvPr/>
        </p:nvSpPr>
        <p:spPr>
          <a:xfrm>
            <a:off x="7532077" y="1123461"/>
            <a:ext cx="4493845" cy="535531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Anxiety &amp; Depression:</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 ↑ music listening ↑ symptoms</a:t>
            </a:r>
            <a:endParaRPr sz="18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Insomnia: </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steady rise in symptoms with more music</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OCD: remains lower overall, less significant when compared to the other conditions</a:t>
            </a: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1800"/>
              <a:buFont typeface="Arial"/>
              <a:buChar char="•"/>
            </a:pPr>
            <a:r>
              <a:rPr lang="en-US" sz="1800" b="1">
                <a:solidFill>
                  <a:schemeClr val="dk1"/>
                </a:solidFill>
                <a:latin typeface="Arial"/>
                <a:ea typeface="Arial"/>
                <a:cs typeface="Arial"/>
                <a:sym typeface="Arial"/>
              </a:rPr>
              <a:t>Linear correlation:</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 Music listening time </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 Mental Health Disorder Ranking</a:t>
            </a:r>
            <a:endParaRPr/>
          </a:p>
          <a:p>
            <a:pPr marL="285750" marR="0" lvl="0" indent="-285750" algn="l" rtl="0">
              <a:spcBef>
                <a:spcPts val="0"/>
              </a:spcBef>
              <a:spcAft>
                <a:spcPts val="0"/>
              </a:spcAft>
              <a:buClr>
                <a:schemeClr val="dk1"/>
              </a:buClr>
              <a:buSzPts val="1800"/>
              <a:buFont typeface="Arial"/>
              <a:buChar char="•"/>
            </a:pPr>
            <a:r>
              <a:rPr lang="en-US" sz="1800" b="1">
                <a:solidFill>
                  <a:schemeClr val="dk1"/>
                </a:solidFill>
                <a:latin typeface="Arial"/>
                <a:ea typeface="Arial"/>
                <a:cs typeface="Arial"/>
                <a:sym typeface="Arial"/>
              </a:rPr>
              <a:t>Outliner</a:t>
            </a:r>
            <a:r>
              <a:rPr lang="en-US" sz="1800">
                <a:solidFill>
                  <a:schemeClr val="dk1"/>
                </a:solidFill>
                <a:latin typeface="Arial"/>
                <a:ea typeface="Arial"/>
                <a:cs typeface="Arial"/>
                <a:sym typeface="Arial"/>
              </a:rPr>
              <a:t>:16+ hours/day, smaller sample sizes</a:t>
            </a: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1800"/>
              <a:buFont typeface="Arial"/>
              <a:buChar char="•"/>
            </a:pPr>
            <a:r>
              <a:rPr lang="en-US" sz="1800" b="1">
                <a:solidFill>
                  <a:schemeClr val="dk1"/>
                </a:solidFill>
                <a:latin typeface="Arial"/>
                <a:ea typeface="Arial"/>
                <a:cs typeface="Arial"/>
                <a:sym typeface="Arial"/>
              </a:rPr>
              <a:t>Findings:</a:t>
            </a:r>
            <a:r>
              <a:rPr lang="en-US" sz="1800">
                <a:solidFill>
                  <a:schemeClr val="dk1"/>
                </a:solidFill>
                <a:latin typeface="Arial"/>
                <a:ea typeface="Arial"/>
                <a:cs typeface="Arial"/>
                <a:sym typeface="Arial"/>
              </a:rPr>
              <a:t> correlation that individuals struggling more with mental health may be using music as a coping mechanism, leading to higher listening times.</a:t>
            </a:r>
            <a:endParaRPr/>
          </a:p>
        </p:txBody>
      </p:sp>
      <p:pic>
        <p:nvPicPr>
          <p:cNvPr id="258" name="Google Shape;258;p17"/>
          <p:cNvPicPr preferRelativeResize="0">
            <a:picLocks noGrp="1"/>
          </p:cNvPicPr>
          <p:nvPr>
            <p:ph type="body" idx="1"/>
          </p:nvPr>
        </p:nvPicPr>
        <p:blipFill rotWithShape="1">
          <a:blip r:embed="rId4">
            <a:alphaModFix/>
          </a:blip>
          <a:srcRect/>
          <a:stretch/>
        </p:blipFill>
        <p:spPr>
          <a:xfrm>
            <a:off x="202258" y="956163"/>
            <a:ext cx="7264332" cy="3560032"/>
          </a:xfrm>
          <a:prstGeom prst="rect">
            <a:avLst/>
          </a:prstGeom>
          <a:noFill/>
          <a:ln>
            <a:noFill/>
          </a:ln>
        </p:spPr>
      </p:pic>
      <p:pic>
        <p:nvPicPr>
          <p:cNvPr id="259" name="Google Shape;259;p17"/>
          <p:cNvPicPr preferRelativeResize="0"/>
          <p:nvPr/>
        </p:nvPicPr>
        <p:blipFill rotWithShape="1">
          <a:blip r:embed="rId5">
            <a:alphaModFix/>
          </a:blip>
          <a:srcRect/>
          <a:stretch/>
        </p:blipFill>
        <p:spPr>
          <a:xfrm>
            <a:off x="197827" y="4513895"/>
            <a:ext cx="7278891" cy="233464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p:cNvGrpSpPr/>
        <p:nvPr/>
      </p:nvGrpSpPr>
      <p:grpSpPr>
        <a:xfrm>
          <a:off x="0" y="0"/>
          <a:ext cx="0" cy="0"/>
          <a:chOff x="0" y="0"/>
          <a:chExt cx="0" cy="0"/>
        </a:xfrm>
      </p:grpSpPr>
      <p:sp>
        <p:nvSpPr>
          <p:cNvPr id="264" name="Google Shape;264;p18"/>
          <p:cNvSpPr txBox="1">
            <a:spLocks noGrp="1"/>
          </p:cNvSpPr>
          <p:nvPr>
            <p:ph type="title"/>
          </p:nvPr>
        </p:nvSpPr>
        <p:spPr>
          <a:xfrm>
            <a:off x="115350" y="5300"/>
            <a:ext cx="12027900" cy="1706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Bivariate Analysis and Implications</a:t>
            </a:r>
            <a:br>
              <a:rPr lang="en-US" b="1">
                <a:solidFill>
                  <a:srgbClr val="0F4862"/>
                </a:solidFill>
              </a:rPr>
            </a:br>
            <a:r>
              <a:rPr lang="en-US" sz="3100" b="1">
                <a:solidFill>
                  <a:srgbClr val="0F4862"/>
                </a:solidFill>
              </a:rPr>
              <a:t>- Relation of Music Genre and its Effect on General Mental State</a:t>
            </a:r>
            <a:endParaRPr sz="3100">
              <a:solidFill>
                <a:srgbClr val="0F4862"/>
              </a:solidFill>
            </a:endParaRPr>
          </a:p>
        </p:txBody>
      </p:sp>
      <p:pic>
        <p:nvPicPr>
          <p:cNvPr id="265" name="Google Shape;265;p18"/>
          <p:cNvPicPr preferRelativeResize="0">
            <a:picLocks noGrp="1"/>
          </p:cNvPicPr>
          <p:nvPr>
            <p:ph type="body" idx="1"/>
          </p:nvPr>
        </p:nvPicPr>
        <p:blipFill rotWithShape="1">
          <a:blip r:embed="rId4">
            <a:alphaModFix/>
          </a:blip>
          <a:srcRect/>
          <a:stretch/>
        </p:blipFill>
        <p:spPr>
          <a:xfrm>
            <a:off x="294395" y="1821547"/>
            <a:ext cx="7472950" cy="4351338"/>
          </a:xfrm>
          <a:prstGeom prst="rect">
            <a:avLst/>
          </a:prstGeom>
          <a:noFill/>
          <a:ln>
            <a:noFill/>
          </a:ln>
        </p:spPr>
      </p:pic>
      <p:pic>
        <p:nvPicPr>
          <p:cNvPr id="266" name="Google Shape;266;p18" descr="一張含有 文字, 螢幕擷取畫面, 行, 字型 的圖片&#10;&#10;AI 產生的內容可能不正確。"/>
          <p:cNvPicPr preferRelativeResize="0"/>
          <p:nvPr/>
        </p:nvPicPr>
        <p:blipFill rotWithShape="1">
          <a:blip r:embed="rId5">
            <a:alphaModFix/>
          </a:blip>
          <a:srcRect/>
          <a:stretch/>
        </p:blipFill>
        <p:spPr>
          <a:xfrm>
            <a:off x="7880902" y="1827068"/>
            <a:ext cx="4171675" cy="3162578"/>
          </a:xfrm>
          <a:prstGeom prst="rect">
            <a:avLst/>
          </a:prstGeom>
          <a:noFill/>
          <a:ln>
            <a:noFill/>
          </a:ln>
        </p:spPr>
      </p:pic>
      <p:sp>
        <p:nvSpPr>
          <p:cNvPr id="267" name="Google Shape;267;p18"/>
          <p:cNvSpPr txBox="1"/>
          <p:nvPr/>
        </p:nvSpPr>
        <p:spPr>
          <a:xfrm>
            <a:off x="3048000" y="4003431"/>
            <a:ext cx="3505200" cy="17547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Actual count of Music Effect over Genre</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t>
            </a:r>
            <a:r>
              <a:rPr lang="en-US" sz="1800">
                <a:solidFill>
                  <a:schemeClr val="dk1"/>
                </a:solidFill>
              </a:rPr>
              <a:t>Apparently</a:t>
            </a:r>
            <a:r>
              <a:rPr lang="en-US" sz="1800">
                <a:solidFill>
                  <a:schemeClr val="dk1"/>
                </a:solidFill>
                <a:latin typeface="Arial"/>
                <a:ea typeface="Arial"/>
                <a:cs typeface="Arial"/>
                <a:sym typeface="Arial"/>
              </a:rPr>
              <a:t>) Rock yields greatest Improvement effect</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(BUT) Rock also yields greatest Worsen or Nil Effect </a:t>
            </a:r>
            <a:endParaRPr/>
          </a:p>
        </p:txBody>
      </p:sp>
      <p:sp>
        <p:nvSpPr>
          <p:cNvPr id="268" name="Google Shape;268;p18"/>
          <p:cNvSpPr txBox="1"/>
          <p:nvPr/>
        </p:nvSpPr>
        <p:spPr>
          <a:xfrm>
            <a:off x="7877907" y="5035060"/>
            <a:ext cx="4173300" cy="17547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Percentage distribution of  Music Effect over Genre</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t>
            </a:r>
            <a:r>
              <a:rPr lang="en-US" sz="1800">
                <a:solidFill>
                  <a:schemeClr val="dk1"/>
                </a:solidFill>
              </a:rPr>
              <a:t>Apparently</a:t>
            </a:r>
            <a:r>
              <a:rPr lang="en-US" sz="1800">
                <a:solidFill>
                  <a:schemeClr val="dk1"/>
                </a:solidFill>
                <a:latin typeface="Arial"/>
                <a:ea typeface="Arial"/>
                <a:cs typeface="Arial"/>
                <a:sym typeface="Arial"/>
              </a:rPr>
              <a:t>) Lofi and Gospel are most encouraging</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(BUT) Popularity / Sampling size problem </a:t>
            </a:r>
            <a:endParaRPr sz="18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2"/>
        <p:cNvGrpSpPr/>
        <p:nvPr/>
      </p:nvGrpSpPr>
      <p:grpSpPr>
        <a:xfrm>
          <a:off x="0" y="0"/>
          <a:ext cx="0" cy="0"/>
          <a:chOff x="0" y="0"/>
          <a:chExt cx="0" cy="0"/>
        </a:xfrm>
      </p:grpSpPr>
      <p:pic>
        <p:nvPicPr>
          <p:cNvPr id="273" name="Google Shape;273;p19" descr="一張含有 文字, 螢幕擷取畫面, 圖表, 數字 的圖片&#10;&#10;AI 產生的內容可能不正確。"/>
          <p:cNvPicPr preferRelativeResize="0"/>
          <p:nvPr/>
        </p:nvPicPr>
        <p:blipFill rotWithShape="1">
          <a:blip r:embed="rId4">
            <a:alphaModFix/>
          </a:blip>
          <a:srcRect/>
          <a:stretch/>
        </p:blipFill>
        <p:spPr>
          <a:xfrm>
            <a:off x="5345753" y="1647542"/>
            <a:ext cx="6660046" cy="3566492"/>
          </a:xfrm>
          <a:prstGeom prst="rect">
            <a:avLst/>
          </a:prstGeom>
          <a:noFill/>
          <a:ln>
            <a:noFill/>
          </a:ln>
        </p:spPr>
      </p:pic>
      <p:sp>
        <p:nvSpPr>
          <p:cNvPr id="274" name="Google Shape;274;p19"/>
          <p:cNvSpPr txBox="1">
            <a:spLocks noGrp="1"/>
          </p:cNvSpPr>
          <p:nvPr>
            <p:ph type="title"/>
          </p:nvPr>
        </p:nvSpPr>
        <p:spPr>
          <a:xfrm>
            <a:off x="0" y="5300"/>
            <a:ext cx="12192000" cy="1706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Multivariate Analysis and Implications</a:t>
            </a:r>
            <a:br>
              <a:rPr lang="en-US" b="1">
                <a:solidFill>
                  <a:srgbClr val="0F4862"/>
                </a:solidFill>
              </a:rPr>
            </a:br>
            <a:r>
              <a:rPr lang="en-US" sz="2600" b="1">
                <a:solidFill>
                  <a:srgbClr val="0F4862"/>
                </a:solidFill>
              </a:rPr>
              <a:t>- Effect of Music Engagement (Instruments / Composition) on Mental Health</a:t>
            </a:r>
            <a:endParaRPr sz="2600" b="1">
              <a:solidFill>
                <a:srgbClr val="0F4862"/>
              </a:solidFill>
            </a:endParaRPr>
          </a:p>
        </p:txBody>
      </p:sp>
      <p:sp>
        <p:nvSpPr>
          <p:cNvPr id="275" name="Google Shape;275;p19"/>
          <p:cNvSpPr txBox="1">
            <a:spLocks noGrp="1"/>
          </p:cNvSpPr>
          <p:nvPr>
            <p:ph type="body" idx="1"/>
          </p:nvPr>
        </p:nvSpPr>
        <p:spPr>
          <a:xfrm>
            <a:off x="399882" y="1926776"/>
            <a:ext cx="4776999" cy="236879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200"/>
              <a:buChar char="•"/>
            </a:pPr>
            <a:r>
              <a:rPr lang="en-US" sz="2200"/>
              <a:t>4 combinations of music engagement</a:t>
            </a:r>
            <a:endParaRPr/>
          </a:p>
          <a:p>
            <a:pPr marL="685800" lvl="1" indent="-228600" algn="l" rtl="0">
              <a:lnSpc>
                <a:spcPct val="90000"/>
              </a:lnSpc>
              <a:spcBef>
                <a:spcPts val="500"/>
              </a:spcBef>
              <a:spcAft>
                <a:spcPts val="0"/>
              </a:spcAft>
              <a:buClr>
                <a:schemeClr val="dk1"/>
              </a:buClr>
              <a:buSzPts val="2200"/>
              <a:buFont typeface="Courier New"/>
              <a:buChar char="o"/>
            </a:pPr>
            <a:r>
              <a:rPr lang="en-US" sz="2200"/>
              <a:t>Instrumentalist</a:t>
            </a:r>
            <a:endParaRPr/>
          </a:p>
          <a:p>
            <a:pPr marL="685800" lvl="1" indent="-228600" algn="l" rtl="0">
              <a:lnSpc>
                <a:spcPct val="90000"/>
              </a:lnSpc>
              <a:spcBef>
                <a:spcPts val="500"/>
              </a:spcBef>
              <a:spcAft>
                <a:spcPts val="0"/>
              </a:spcAft>
              <a:buClr>
                <a:schemeClr val="dk1"/>
              </a:buClr>
              <a:buSzPts val="2200"/>
              <a:buFont typeface="Courier New"/>
              <a:buChar char="o"/>
            </a:pPr>
            <a:r>
              <a:rPr lang="en-US" sz="2200"/>
              <a:t>Composer</a:t>
            </a:r>
            <a:endParaRPr/>
          </a:p>
          <a:p>
            <a:pPr marL="685800" lvl="1" indent="-228600" algn="l" rtl="0">
              <a:lnSpc>
                <a:spcPct val="90000"/>
              </a:lnSpc>
              <a:spcBef>
                <a:spcPts val="500"/>
              </a:spcBef>
              <a:spcAft>
                <a:spcPts val="0"/>
              </a:spcAft>
              <a:buClr>
                <a:schemeClr val="dk1"/>
              </a:buClr>
              <a:buSzPts val="2200"/>
              <a:buFont typeface="Courier New"/>
              <a:buChar char="o"/>
            </a:pPr>
            <a:r>
              <a:rPr lang="en-US" sz="2200"/>
              <a:t>Both</a:t>
            </a:r>
            <a:endParaRPr/>
          </a:p>
          <a:p>
            <a:pPr marL="685800" lvl="1" indent="-228600" algn="l" rtl="0">
              <a:lnSpc>
                <a:spcPct val="90000"/>
              </a:lnSpc>
              <a:spcBef>
                <a:spcPts val="500"/>
              </a:spcBef>
              <a:spcAft>
                <a:spcPts val="0"/>
              </a:spcAft>
              <a:buClr>
                <a:schemeClr val="dk1"/>
              </a:buClr>
              <a:buSzPts val="2200"/>
              <a:buFont typeface="Courier New"/>
              <a:buChar char="o"/>
            </a:pPr>
            <a:r>
              <a:rPr lang="en-US" sz="2200"/>
              <a:t>Neither (Pure music listener)</a:t>
            </a:r>
            <a:endParaRPr/>
          </a:p>
        </p:txBody>
      </p:sp>
      <p:sp>
        <p:nvSpPr>
          <p:cNvPr id="276" name="Google Shape;276;p19"/>
          <p:cNvSpPr txBox="1"/>
          <p:nvPr/>
        </p:nvSpPr>
        <p:spPr>
          <a:xfrm>
            <a:off x="397185" y="4183106"/>
            <a:ext cx="4776999" cy="2321586"/>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The majority agrees music improve mental health</a:t>
            </a:r>
            <a:endParaRPr sz="220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chemeClr val="dk1"/>
              </a:buClr>
              <a:buSzPts val="2200"/>
              <a:buFont typeface="Arial"/>
              <a:buChar char="•"/>
            </a:pPr>
            <a:r>
              <a:rPr lang="en-US" sz="2200">
                <a:solidFill>
                  <a:schemeClr val="dk1"/>
                </a:solidFill>
                <a:latin typeface="Arial"/>
                <a:ea typeface="Arial"/>
                <a:cs typeface="Arial"/>
                <a:sym typeface="Arial"/>
              </a:rPr>
              <a:t>Ratio of No effect / Improve</a:t>
            </a:r>
            <a:endParaRPr/>
          </a:p>
          <a:p>
            <a:pPr marL="685800" marR="0" lvl="1" indent="-228600" algn="l" rtl="0">
              <a:lnSpc>
                <a:spcPct val="90000"/>
              </a:lnSpc>
              <a:spcBef>
                <a:spcPts val="500"/>
              </a:spcBef>
              <a:spcAft>
                <a:spcPts val="0"/>
              </a:spcAft>
              <a:buClr>
                <a:schemeClr val="dk1"/>
              </a:buClr>
              <a:buSzPts val="2200"/>
              <a:buFont typeface="Courier New"/>
              <a:buChar char="o"/>
            </a:pPr>
            <a:r>
              <a:rPr lang="en-US" sz="2200" b="0" i="0" u="none" strike="noStrike" cap="none">
                <a:solidFill>
                  <a:schemeClr val="dk1"/>
                </a:solidFill>
                <a:latin typeface="Arial"/>
                <a:ea typeface="Arial"/>
                <a:cs typeface="Arial"/>
                <a:sym typeface="Arial"/>
              </a:rPr>
              <a:t>Composer &gt; Instrumentalist&gt; Both &gt; Neither</a:t>
            </a:r>
            <a:endParaRPr/>
          </a:p>
          <a:p>
            <a:pPr marL="685800" marR="0" lvl="1" indent="-228600" algn="l" rtl="0">
              <a:lnSpc>
                <a:spcPct val="90000"/>
              </a:lnSpc>
              <a:spcBef>
                <a:spcPts val="500"/>
              </a:spcBef>
              <a:spcAft>
                <a:spcPts val="0"/>
              </a:spcAft>
              <a:buClr>
                <a:schemeClr val="dk1"/>
              </a:buClr>
              <a:buSzPts val="2200"/>
              <a:buFont typeface="Courier New"/>
              <a:buChar char="o"/>
            </a:pPr>
            <a:r>
              <a:rPr lang="en-US" sz="2200" b="0" i="0" u="none" strike="noStrike" cap="none">
                <a:solidFill>
                  <a:schemeClr val="dk1"/>
                </a:solidFill>
                <a:latin typeface="Arial"/>
                <a:ea typeface="Arial"/>
                <a:cs typeface="Arial"/>
                <a:sym typeface="Arial"/>
              </a:rPr>
              <a:t>Sampling size problem</a:t>
            </a:r>
            <a:endParaRPr/>
          </a:p>
        </p:txBody>
      </p:sp>
      <p:pic>
        <p:nvPicPr>
          <p:cNvPr id="277" name="Google Shape;277;p19" descr="一張含有 文字, 螢幕擷取畫面, 字型, 數字 的圖片&#10;&#10;AI 產生的內容可能不正確。"/>
          <p:cNvPicPr preferRelativeResize="0"/>
          <p:nvPr/>
        </p:nvPicPr>
        <p:blipFill rotWithShape="1">
          <a:blip r:embed="rId5">
            <a:alphaModFix/>
          </a:blip>
          <a:srcRect/>
          <a:stretch/>
        </p:blipFill>
        <p:spPr>
          <a:xfrm>
            <a:off x="5330272" y="5209760"/>
            <a:ext cx="6679924" cy="142129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1"/>
        <p:cNvGrpSpPr/>
        <p:nvPr/>
      </p:nvGrpSpPr>
      <p:grpSpPr>
        <a:xfrm>
          <a:off x="0" y="0"/>
          <a:ext cx="0" cy="0"/>
          <a:chOff x="0" y="0"/>
          <a:chExt cx="0" cy="0"/>
        </a:xfrm>
      </p:grpSpPr>
      <p:sp>
        <p:nvSpPr>
          <p:cNvPr id="282" name="Google Shape;282;p20"/>
          <p:cNvSpPr txBox="1">
            <a:spLocks noGrp="1"/>
          </p:cNvSpPr>
          <p:nvPr>
            <p:ph type="title"/>
          </p:nvPr>
        </p:nvSpPr>
        <p:spPr>
          <a:xfrm>
            <a:off x="94375" y="5300"/>
            <a:ext cx="11725200" cy="13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F4862"/>
              </a:buClr>
              <a:buSzPts val="4000"/>
              <a:buFont typeface="Play"/>
              <a:buNone/>
            </a:pPr>
            <a:r>
              <a:rPr lang="en-US" sz="4000" b="1">
                <a:solidFill>
                  <a:srgbClr val="0F4862"/>
                </a:solidFill>
              </a:rPr>
              <a:t>Bivariate Analysis and Implications</a:t>
            </a:r>
            <a:br>
              <a:rPr lang="en-US" sz="3200" b="1">
                <a:solidFill>
                  <a:srgbClr val="0F4862"/>
                </a:solidFill>
              </a:rPr>
            </a:br>
            <a:r>
              <a:rPr lang="en-US" sz="3100" b="1">
                <a:solidFill>
                  <a:srgbClr val="0F4862"/>
                </a:solidFill>
              </a:rPr>
              <a:t>- Relation of Music Genre Playing Frequency and Mental State</a:t>
            </a:r>
            <a:endParaRPr sz="3100" b="1">
              <a:solidFill>
                <a:srgbClr val="0F4862"/>
              </a:solidFill>
            </a:endParaRPr>
          </a:p>
        </p:txBody>
      </p:sp>
      <p:pic>
        <p:nvPicPr>
          <p:cNvPr id="283" name="Google Shape;283;p20" descr="A chart of different types of health effects&#10;&#10;AI-generated content may be incorrect."/>
          <p:cNvPicPr preferRelativeResize="0"/>
          <p:nvPr/>
        </p:nvPicPr>
        <p:blipFill rotWithShape="1">
          <a:blip r:embed="rId4">
            <a:alphaModFix/>
          </a:blip>
          <a:srcRect/>
          <a:stretch/>
        </p:blipFill>
        <p:spPr>
          <a:xfrm>
            <a:off x="566671" y="1475154"/>
            <a:ext cx="5343658" cy="5197231"/>
          </a:xfrm>
          <a:prstGeom prst="rect">
            <a:avLst/>
          </a:prstGeom>
          <a:noFill/>
          <a:ln>
            <a:noFill/>
          </a:ln>
        </p:spPr>
      </p:pic>
      <p:pic>
        <p:nvPicPr>
          <p:cNvPr id="284" name="Google Shape;284;p20" descr="A chart of different types of health effects&#10;&#10;AI-generated content may be incorrect."/>
          <p:cNvPicPr preferRelativeResize="0">
            <a:picLocks noGrp="1"/>
          </p:cNvPicPr>
          <p:nvPr>
            <p:ph type="body" idx="1"/>
          </p:nvPr>
        </p:nvPicPr>
        <p:blipFill rotWithShape="1">
          <a:blip r:embed="rId5">
            <a:alphaModFix/>
          </a:blip>
          <a:srcRect/>
          <a:stretch/>
        </p:blipFill>
        <p:spPr>
          <a:xfrm>
            <a:off x="5907708" y="1473933"/>
            <a:ext cx="5349121" cy="520126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8"/>
        <p:cNvGrpSpPr/>
        <p:nvPr/>
      </p:nvGrpSpPr>
      <p:grpSpPr>
        <a:xfrm>
          <a:off x="0" y="0"/>
          <a:ext cx="0" cy="0"/>
          <a:chOff x="0" y="0"/>
          <a:chExt cx="0" cy="0"/>
        </a:xfrm>
      </p:grpSpPr>
      <p:sp>
        <p:nvSpPr>
          <p:cNvPr id="289" name="Google Shape;289;p21"/>
          <p:cNvSpPr txBox="1">
            <a:spLocks noGrp="1"/>
          </p:cNvSpPr>
          <p:nvPr>
            <p:ph type="title"/>
          </p:nvPr>
        </p:nvSpPr>
        <p:spPr>
          <a:xfrm>
            <a:off x="2774950" y="5300"/>
            <a:ext cx="7512000" cy="1378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Challenges and Limitations</a:t>
            </a:r>
            <a:endParaRPr b="1">
              <a:solidFill>
                <a:srgbClr val="0F4862"/>
              </a:solidFill>
            </a:endParaRPr>
          </a:p>
        </p:txBody>
      </p:sp>
      <p:graphicFrame>
        <p:nvGraphicFramePr>
          <p:cNvPr id="290" name="Google Shape;290;p21"/>
          <p:cNvGraphicFramePr/>
          <p:nvPr/>
        </p:nvGraphicFramePr>
        <p:xfrm>
          <a:off x="351692" y="1354482"/>
          <a:ext cx="11495150" cy="4907350"/>
        </p:xfrm>
        <a:graphic>
          <a:graphicData uri="http://schemas.openxmlformats.org/drawingml/2006/table">
            <a:tbl>
              <a:tblPr firstRow="1" bandRow="1">
                <a:noFill/>
                <a:tableStyleId>{C3E9C122-B0F5-457C-AA57-6EAFA5F72C34}</a:tableStyleId>
              </a:tblPr>
              <a:tblGrid>
                <a:gridCol w="5747575">
                  <a:extLst>
                    <a:ext uri="{9D8B030D-6E8A-4147-A177-3AD203B41FA5}">
                      <a16:colId xmlns:a16="http://schemas.microsoft.com/office/drawing/2014/main" val="20000"/>
                    </a:ext>
                  </a:extLst>
                </a:gridCol>
                <a:gridCol w="5747575">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2400" b="1" i="0" u="none" strike="noStrike">
                          <a:solidFill>
                            <a:srgbClr val="12511B"/>
                          </a:solidFill>
                          <a:latin typeface="Arial"/>
                          <a:ea typeface="Arial"/>
                          <a:cs typeface="Arial"/>
                          <a:sym typeface="Arial"/>
                        </a:rPr>
                        <a:t>Challenges and Limitations</a:t>
                      </a:r>
                      <a:endParaRPr/>
                    </a:p>
                  </a:txBody>
                  <a:tcPr marL="91450" marR="91450" marT="45725" marB="45725"/>
                </a:tc>
                <a:tc>
                  <a:txBody>
                    <a:bodyPr/>
                    <a:lstStyle/>
                    <a:p>
                      <a:pPr marL="0" marR="0" lvl="0" indent="0" algn="ctr" rtl="0">
                        <a:spcBef>
                          <a:spcPts val="0"/>
                        </a:spcBef>
                        <a:spcAft>
                          <a:spcPts val="0"/>
                        </a:spcAft>
                        <a:buNone/>
                      </a:pPr>
                      <a:r>
                        <a:rPr lang="en-US" sz="2400" b="1" i="0" u="none" strike="noStrike">
                          <a:solidFill>
                            <a:srgbClr val="12511B"/>
                          </a:solidFill>
                          <a:latin typeface="Arial"/>
                          <a:ea typeface="Arial"/>
                          <a:cs typeface="Arial"/>
                          <a:sym typeface="Arial"/>
                        </a:rPr>
                        <a:t>Possible Improvements</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a:solidFill>
                            <a:srgbClr val="000000"/>
                          </a:solidFill>
                          <a:latin typeface="Arial"/>
                          <a:ea typeface="Arial"/>
                          <a:cs typeface="Arial"/>
                          <a:sym typeface="Arial"/>
                        </a:rPr>
                        <a:t>No control group</a:t>
                      </a:r>
                      <a:endParaRPr sz="2000" b="0" i="0" u="none" strike="noStrike">
                        <a:solidFill>
                          <a:srgbClr val="000000"/>
                        </a:solidFill>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2000" b="0" i="0" u="none" strike="noStrike">
                          <a:solidFill>
                            <a:srgbClr val="000000"/>
                          </a:solidFill>
                          <a:latin typeface="Arial"/>
                          <a:ea typeface="Arial"/>
                          <a:cs typeface="Arial"/>
                          <a:sym typeface="Arial"/>
                        </a:rPr>
                        <a:t>Try to make use of sample with 0 hours of music listening</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a:solidFill>
                            <a:srgbClr val="000000"/>
                          </a:solidFill>
                          <a:latin typeface="Arial"/>
                          <a:ea typeface="Arial"/>
                          <a:cs typeface="Arial"/>
                          <a:sym typeface="Arial"/>
                        </a:rPr>
                        <a:t>Biased Data (Listening frequency, rankings)</a:t>
                      </a:r>
                      <a:endParaRPr/>
                    </a:p>
                  </a:txBody>
                  <a:tcPr marL="91450" marR="91450" marT="45725" marB="45725"/>
                </a:tc>
                <a:tc>
                  <a:txBody>
                    <a:bodyPr/>
                    <a:lstStyle/>
                    <a:p>
                      <a:pPr marL="0" marR="0" lvl="0" indent="0" algn="l" rtl="0">
                        <a:spcBef>
                          <a:spcPts val="0"/>
                        </a:spcBef>
                        <a:spcAft>
                          <a:spcPts val="0"/>
                        </a:spcAft>
                        <a:buNone/>
                      </a:pPr>
                      <a:r>
                        <a:rPr lang="en-US" sz="2000" b="0" i="0" u="none" strike="noStrike">
                          <a:solidFill>
                            <a:srgbClr val="000000"/>
                          </a:solidFill>
                          <a:latin typeface="Arial"/>
                          <a:ea typeface="Arial"/>
                          <a:cs typeface="Arial"/>
                          <a:sym typeface="Arial"/>
                        </a:rPr>
                        <a:t>Deeper analysis to list out outliers for consideration of exclusion</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a:solidFill>
                            <a:srgbClr val="000000"/>
                          </a:solidFill>
                          <a:latin typeface="Arial"/>
                          <a:ea typeface="Arial"/>
                          <a:cs typeface="Arial"/>
                          <a:sym typeface="Arial"/>
                        </a:rPr>
                        <a:t>Difficulty in standardization (Listening hours)</a:t>
                      </a:r>
                      <a:endParaRPr/>
                    </a:p>
                  </a:txBody>
                  <a:tcPr marL="91450" marR="91450" marT="45725" marB="45725"/>
                </a:tc>
                <a:tc>
                  <a:txBody>
                    <a:bodyPr/>
                    <a:lstStyle/>
                    <a:p>
                      <a:pPr marL="0" marR="0" lvl="0" indent="0" algn="l" rtl="0">
                        <a:spcBef>
                          <a:spcPts val="0"/>
                        </a:spcBef>
                        <a:spcAft>
                          <a:spcPts val="0"/>
                        </a:spcAft>
                        <a:buNone/>
                      </a:pPr>
                      <a:r>
                        <a:rPr lang="en-US" sz="2000" b="0" i="0" u="none" strike="noStrike">
                          <a:solidFill>
                            <a:srgbClr val="000000"/>
                          </a:solidFill>
                          <a:latin typeface="Arial"/>
                          <a:ea typeface="Arial"/>
                          <a:cs typeface="Arial"/>
                          <a:sym typeface="Arial"/>
                        </a:rPr>
                        <a:t>To research on average hours of playing, define the normal range in </a:t>
                      </a:r>
                      <a:r>
                        <a:rPr lang="en-US" sz="2000">
                          <a:solidFill>
                            <a:srgbClr val="000000"/>
                          </a:solidFill>
                          <a:latin typeface="Arial"/>
                          <a:ea typeface="Arial"/>
                          <a:cs typeface="Arial"/>
                          <a:sym typeface="Arial"/>
                        </a:rPr>
                        <a:t>consideration</a:t>
                      </a:r>
                      <a:r>
                        <a:rPr lang="en-US" sz="2000" b="0" i="0" u="none" strike="noStrike">
                          <a:solidFill>
                            <a:srgbClr val="000000"/>
                          </a:solidFill>
                          <a:latin typeface="Arial"/>
                          <a:ea typeface="Arial"/>
                          <a:cs typeface="Arial"/>
                          <a:sym typeface="Arial"/>
                        </a:rPr>
                        <a:t> of 25 to 75 %tile</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a:solidFill>
                            <a:srgbClr val="000000"/>
                          </a:solidFill>
                          <a:latin typeface="Arial"/>
                          <a:ea typeface="Arial"/>
                          <a:cs typeface="Arial"/>
                          <a:sym typeface="Arial"/>
                        </a:rPr>
                        <a:t>Lack of longitudinal data</a:t>
                      </a:r>
                      <a:endParaRPr sz="1800"/>
                    </a:p>
                  </a:txBody>
                  <a:tcPr marL="91450" marR="91450" marT="45725" marB="45725"/>
                </a:tc>
                <a:tc>
                  <a:txBody>
                    <a:bodyPr/>
                    <a:lstStyle/>
                    <a:p>
                      <a:pPr marL="0" marR="0" lvl="0" indent="0" algn="l" rtl="0">
                        <a:spcBef>
                          <a:spcPts val="0"/>
                        </a:spcBef>
                        <a:spcAft>
                          <a:spcPts val="0"/>
                        </a:spcAft>
                        <a:buClr>
                          <a:srgbClr val="000000"/>
                        </a:buClr>
                        <a:buSzPts val="2000"/>
                        <a:buFont typeface="Arial"/>
                        <a:buNone/>
                      </a:pPr>
                      <a:r>
                        <a:rPr lang="en-US" sz="2000" b="0" i="0" u="none" strike="noStrike">
                          <a:solidFill>
                            <a:srgbClr val="000000"/>
                          </a:solidFill>
                          <a:latin typeface="Arial"/>
                          <a:ea typeface="Arial"/>
                          <a:cs typeface="Arial"/>
                          <a:sym typeface="Arial"/>
                        </a:rPr>
                        <a:t>Require clarification from survey inspector / designer</a:t>
                      </a:r>
                      <a:endParaRPr sz="180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a:solidFill>
                            <a:srgbClr val="000000"/>
                          </a:solidFill>
                          <a:latin typeface="Arial"/>
                          <a:ea typeface="Arial"/>
                          <a:cs typeface="Arial"/>
                          <a:sym typeface="Arial"/>
                        </a:rPr>
                        <a:t>No pre/post comparison of how music affect the four mental health rankings</a:t>
                      </a:r>
                      <a:endParaRPr/>
                    </a:p>
                  </a:txBody>
                  <a:tcPr marL="91450" marR="91450" marT="45725" marB="45725"/>
                </a:tc>
                <a:tc>
                  <a:txBody>
                    <a:bodyPr/>
                    <a:lstStyle/>
                    <a:p>
                      <a:pPr marL="0" marR="0" lvl="0" indent="0" algn="l" rtl="0">
                        <a:spcBef>
                          <a:spcPts val="0"/>
                        </a:spcBef>
                        <a:spcAft>
                          <a:spcPts val="0"/>
                        </a:spcAft>
                        <a:buNone/>
                      </a:pPr>
                      <a:r>
                        <a:rPr lang="en-US" sz="2000" b="0" i="0" u="none" strike="noStrike">
                          <a:solidFill>
                            <a:srgbClr val="000000"/>
                          </a:solidFill>
                          <a:latin typeface="Arial"/>
                          <a:ea typeface="Arial"/>
                          <a:cs typeface="Arial"/>
                          <a:sym typeface="Arial"/>
                        </a:rPr>
                        <a:t>ditto</a:t>
                      </a:r>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a:solidFill>
                            <a:srgbClr val="000000"/>
                          </a:solidFill>
                          <a:latin typeface="Arial"/>
                          <a:ea typeface="Arial"/>
                          <a:cs typeface="Arial"/>
                          <a:sym typeface="Arial"/>
                        </a:rPr>
                        <a:t>Cannot determine which music genre most impacts mental health</a:t>
                      </a:r>
                      <a:endParaRPr/>
                    </a:p>
                  </a:txBody>
                  <a:tcPr marL="91450" marR="91450" marT="45725" marB="45725"/>
                </a:tc>
                <a:tc>
                  <a:txBody>
                    <a:bodyPr/>
                    <a:lstStyle/>
                    <a:p>
                      <a:pPr marL="0" marR="0" lvl="0" indent="0" algn="l" rtl="0">
                        <a:spcBef>
                          <a:spcPts val="0"/>
                        </a:spcBef>
                        <a:spcAft>
                          <a:spcPts val="0"/>
                        </a:spcAft>
                        <a:buNone/>
                      </a:pPr>
                      <a:r>
                        <a:rPr lang="en-US" sz="2000" b="0" i="0" u="none" strike="noStrike">
                          <a:solidFill>
                            <a:srgbClr val="000000"/>
                          </a:solidFill>
                          <a:latin typeface="Arial"/>
                          <a:ea typeface="Arial"/>
                          <a:cs typeface="Arial"/>
                          <a:sym typeface="Arial"/>
                        </a:rPr>
                        <a:t>Expand </a:t>
                      </a:r>
                      <a:r>
                        <a:rPr lang="en-US" sz="2000">
                          <a:solidFill>
                            <a:srgbClr val="000000"/>
                          </a:solidFill>
                          <a:latin typeface="Arial"/>
                          <a:ea typeface="Arial"/>
                          <a:cs typeface="Arial"/>
                          <a:sym typeface="Arial"/>
                        </a:rPr>
                        <a:t>multivariate</a:t>
                      </a:r>
                      <a:r>
                        <a:rPr lang="en-US" sz="2000" b="0" i="0" u="none" strike="noStrike">
                          <a:solidFill>
                            <a:srgbClr val="000000"/>
                          </a:solidFill>
                          <a:latin typeface="Arial"/>
                          <a:ea typeface="Arial"/>
                          <a:cs typeface="Arial"/>
                          <a:sym typeface="Arial"/>
                        </a:rPr>
                        <a:t> analysis, e.g. Fav genre X Freqency of genre X Effect</a:t>
                      </a:r>
                      <a:endParaRPr/>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4"/>
        <p:cNvGrpSpPr/>
        <p:nvPr/>
      </p:nvGrpSpPr>
      <p:grpSpPr>
        <a:xfrm>
          <a:off x="0" y="0"/>
          <a:ext cx="0" cy="0"/>
          <a:chOff x="0" y="0"/>
          <a:chExt cx="0" cy="0"/>
        </a:xfrm>
      </p:grpSpPr>
      <p:sp>
        <p:nvSpPr>
          <p:cNvPr id="295" name="Google Shape;295;p2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6" name="Google Shape;296;p22"/>
          <p:cNvSpPr/>
          <p:nvPr/>
        </p:nvSpPr>
        <p:spPr>
          <a:xfrm>
            <a:off x="0" y="-1"/>
            <a:ext cx="11766176" cy="2061837"/>
          </a:xfrm>
          <a:custGeom>
            <a:avLst/>
            <a:gdLst/>
            <a:ahLst/>
            <a:cxnLst/>
            <a:rect l="l" t="t" r="r" b="b"/>
            <a:pathLst>
              <a:path w="10768629" h="1978172" extrusionOk="0">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7" name="Google Shape;297;p22"/>
          <p:cNvSpPr txBox="1">
            <a:spLocks noGrp="1"/>
          </p:cNvSpPr>
          <p:nvPr>
            <p:ph type="title"/>
          </p:nvPr>
        </p:nvSpPr>
        <p:spPr>
          <a:xfrm>
            <a:off x="1137034" y="609597"/>
            <a:ext cx="9392421" cy="13308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F4862"/>
              </a:buClr>
              <a:buSzPts val="4400"/>
              <a:buFont typeface="Play"/>
              <a:buNone/>
            </a:pPr>
            <a:r>
              <a:rPr lang="en-US" b="1">
                <a:solidFill>
                  <a:srgbClr val="0F4862"/>
                </a:solidFill>
              </a:rPr>
              <a:t>Conclusion</a:t>
            </a:r>
            <a:endParaRPr b="1">
              <a:solidFill>
                <a:srgbClr val="0F4862"/>
              </a:solidFill>
            </a:endParaRPr>
          </a:p>
        </p:txBody>
      </p:sp>
      <p:sp>
        <p:nvSpPr>
          <p:cNvPr id="298" name="Google Shape;298;p22"/>
          <p:cNvSpPr txBox="1">
            <a:spLocks noGrp="1"/>
          </p:cNvSpPr>
          <p:nvPr>
            <p:ph type="body" idx="1"/>
          </p:nvPr>
        </p:nvSpPr>
        <p:spPr>
          <a:xfrm>
            <a:off x="883034" y="2060779"/>
            <a:ext cx="6885132" cy="4055356"/>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000"/>
              <a:buChar char="•"/>
            </a:pPr>
            <a:r>
              <a:rPr lang="en-US" sz="2000"/>
              <a:t>There is certain relation between Music and Mental Health</a:t>
            </a:r>
            <a:endParaRPr/>
          </a:p>
          <a:p>
            <a:pPr marL="685800" lvl="1" indent="-228600" algn="l" rtl="0">
              <a:lnSpc>
                <a:spcPct val="90000"/>
              </a:lnSpc>
              <a:spcBef>
                <a:spcPts val="500"/>
              </a:spcBef>
              <a:spcAft>
                <a:spcPts val="0"/>
              </a:spcAft>
              <a:buClr>
                <a:schemeClr val="dk1"/>
              </a:buClr>
              <a:buSzPts val="2000"/>
              <a:buFont typeface="Courier New"/>
              <a:buChar char="o"/>
            </a:pPr>
            <a:r>
              <a:rPr lang="en-US" sz="2000"/>
              <a:t>Both Music Engagement and Music Listening</a:t>
            </a:r>
            <a:br>
              <a:rPr lang="en-US" sz="2000"/>
            </a:br>
            <a:endParaRPr sz="2000"/>
          </a:p>
          <a:p>
            <a:pPr marL="228600" lvl="0" indent="-228600" algn="l" rtl="0">
              <a:lnSpc>
                <a:spcPct val="90000"/>
              </a:lnSpc>
              <a:spcBef>
                <a:spcPts val="1000"/>
              </a:spcBef>
              <a:spcAft>
                <a:spcPts val="0"/>
              </a:spcAft>
              <a:buClr>
                <a:schemeClr val="dk1"/>
              </a:buClr>
              <a:buSzPts val="2000"/>
              <a:buChar char="•"/>
            </a:pPr>
            <a:r>
              <a:rPr lang="en-US" sz="2000"/>
              <a:t>It worths further study the effect in between</a:t>
            </a:r>
            <a:endParaRPr/>
          </a:p>
          <a:p>
            <a:pPr marL="685800" lvl="1" indent="-228600" algn="l" rtl="0">
              <a:lnSpc>
                <a:spcPct val="90000"/>
              </a:lnSpc>
              <a:spcBef>
                <a:spcPts val="500"/>
              </a:spcBef>
              <a:spcAft>
                <a:spcPts val="0"/>
              </a:spcAft>
              <a:buClr>
                <a:schemeClr val="dk1"/>
              </a:buClr>
              <a:buSzPts val="2000"/>
              <a:buFont typeface="Courier New"/>
              <a:buChar char="o"/>
            </a:pPr>
            <a:r>
              <a:rPr lang="en-US" sz="2000"/>
              <a:t>Music </a:t>
            </a:r>
            <a:r>
              <a:rPr lang="en-US" sz="2000">
                <a:latin typeface="Noto Sans Symbols"/>
                <a:ea typeface="Noto Sans Symbols"/>
                <a:cs typeface="Noto Sans Symbols"/>
                <a:sym typeface="Noto Sans Symbols"/>
              </a:rPr>
              <a:t>→</a:t>
            </a:r>
            <a:r>
              <a:rPr lang="en-US" sz="2000">
                <a:latin typeface="Arial"/>
                <a:ea typeface="Arial"/>
                <a:cs typeface="Arial"/>
                <a:sym typeface="Arial"/>
              </a:rPr>
              <a:t> Mental</a:t>
            </a:r>
            <a:endParaRPr sz="2000">
              <a:latin typeface="Arial"/>
              <a:ea typeface="Arial"/>
              <a:cs typeface="Arial"/>
              <a:sym typeface="Arial"/>
            </a:endParaRPr>
          </a:p>
          <a:p>
            <a:pPr marL="685800" lvl="1" indent="-228600" algn="l" rtl="0">
              <a:lnSpc>
                <a:spcPct val="90000"/>
              </a:lnSpc>
              <a:spcBef>
                <a:spcPts val="500"/>
              </a:spcBef>
              <a:spcAft>
                <a:spcPts val="0"/>
              </a:spcAft>
              <a:buClr>
                <a:schemeClr val="dk1"/>
              </a:buClr>
              <a:buSzPts val="2000"/>
              <a:buFont typeface="Courier New"/>
              <a:buChar char="o"/>
            </a:pPr>
            <a:r>
              <a:rPr lang="en-US" sz="2000">
                <a:latin typeface="Arial"/>
                <a:ea typeface="Arial"/>
                <a:cs typeface="Arial"/>
                <a:sym typeface="Arial"/>
              </a:rPr>
              <a:t>Music </a:t>
            </a:r>
            <a:r>
              <a:rPr lang="en-US" sz="2000">
                <a:latin typeface="Noto Sans Symbols"/>
                <a:ea typeface="Noto Sans Symbols"/>
                <a:cs typeface="Noto Sans Symbols"/>
                <a:sym typeface="Noto Sans Symbols"/>
              </a:rPr>
              <a:t>←</a:t>
            </a:r>
            <a:r>
              <a:rPr lang="en-US" sz="2000">
                <a:latin typeface="Arial"/>
                <a:ea typeface="Arial"/>
                <a:cs typeface="Arial"/>
                <a:sym typeface="Arial"/>
              </a:rPr>
              <a:t> Mental</a:t>
            </a:r>
            <a:endParaRPr sz="2000"/>
          </a:p>
          <a:p>
            <a:pPr marL="685800" lvl="1" indent="-228600" algn="l" rtl="0">
              <a:lnSpc>
                <a:spcPct val="90000"/>
              </a:lnSpc>
              <a:spcBef>
                <a:spcPts val="500"/>
              </a:spcBef>
              <a:spcAft>
                <a:spcPts val="0"/>
              </a:spcAft>
              <a:buClr>
                <a:schemeClr val="dk1"/>
              </a:buClr>
              <a:buSzPts val="2000"/>
              <a:buFont typeface="Courier New"/>
              <a:buChar char="o"/>
            </a:pPr>
            <a:r>
              <a:rPr lang="en-US" sz="2000"/>
              <a:t>Causal relation apart from correlation</a:t>
            </a:r>
            <a:endParaRPr/>
          </a:p>
          <a:p>
            <a:pPr marL="228600" lvl="0" indent="-101600" algn="l" rtl="0">
              <a:lnSpc>
                <a:spcPct val="90000"/>
              </a:lnSpc>
              <a:spcBef>
                <a:spcPts val="1000"/>
              </a:spcBef>
              <a:spcAft>
                <a:spcPts val="0"/>
              </a:spcAft>
              <a:buClr>
                <a:schemeClr val="dk1"/>
              </a:buClr>
              <a:buSzPts val="2000"/>
              <a:buNone/>
            </a:pPr>
            <a:endParaRPr sz="2000"/>
          </a:p>
          <a:p>
            <a:pPr marL="228600" lvl="0" indent="-228600" algn="l" rtl="0">
              <a:lnSpc>
                <a:spcPct val="90000"/>
              </a:lnSpc>
              <a:spcBef>
                <a:spcPts val="1000"/>
              </a:spcBef>
              <a:spcAft>
                <a:spcPts val="0"/>
              </a:spcAft>
              <a:buClr>
                <a:schemeClr val="dk1"/>
              </a:buClr>
              <a:buSzPts val="2000"/>
              <a:buChar char="•"/>
            </a:pPr>
            <a:r>
              <a:rPr lang="en-US" sz="2000"/>
              <a:t>Rooms of improvement:</a:t>
            </a:r>
            <a:endParaRPr/>
          </a:p>
          <a:p>
            <a:pPr marL="685800" lvl="1" indent="-228600" algn="l" rtl="0">
              <a:lnSpc>
                <a:spcPct val="90000"/>
              </a:lnSpc>
              <a:spcBef>
                <a:spcPts val="500"/>
              </a:spcBef>
              <a:spcAft>
                <a:spcPts val="0"/>
              </a:spcAft>
              <a:buClr>
                <a:schemeClr val="dk1"/>
              </a:buClr>
              <a:buSzPts val="2000"/>
              <a:buFont typeface="Courier New"/>
              <a:buChar char="o"/>
            </a:pPr>
            <a:r>
              <a:rPr lang="en-US" sz="2000"/>
              <a:t>Coding style</a:t>
            </a:r>
            <a:endParaRPr/>
          </a:p>
          <a:p>
            <a:pPr marL="685800" lvl="1" indent="-228600" algn="l" rtl="0">
              <a:lnSpc>
                <a:spcPct val="90000"/>
              </a:lnSpc>
              <a:spcBef>
                <a:spcPts val="500"/>
              </a:spcBef>
              <a:spcAft>
                <a:spcPts val="0"/>
              </a:spcAft>
              <a:buClr>
                <a:schemeClr val="dk1"/>
              </a:buClr>
              <a:buSzPts val="2000"/>
              <a:buFont typeface="Courier New"/>
              <a:buChar char="o"/>
            </a:pPr>
            <a:r>
              <a:rPr lang="en-US" sz="2000"/>
              <a:t>Wider perspective in analysis</a:t>
            </a:r>
            <a:endParaRPr/>
          </a:p>
          <a:p>
            <a:pPr marL="685800" lvl="1" indent="-228600" algn="l" rtl="0">
              <a:lnSpc>
                <a:spcPct val="90000"/>
              </a:lnSpc>
              <a:spcBef>
                <a:spcPts val="500"/>
              </a:spcBef>
              <a:spcAft>
                <a:spcPts val="0"/>
              </a:spcAft>
              <a:buClr>
                <a:schemeClr val="dk1"/>
              </a:buClr>
              <a:buSzPts val="2000"/>
              <a:buFont typeface="Courier New"/>
              <a:buChar char="o"/>
            </a:pPr>
            <a:r>
              <a:rPr lang="en-US" sz="2000"/>
              <a:t>Other data attributes</a:t>
            </a:r>
            <a:endParaRPr/>
          </a:p>
        </p:txBody>
      </p:sp>
      <p:pic>
        <p:nvPicPr>
          <p:cNvPr id="299" name="Google Shape;299;p22" descr="Music and the brain, what effect does music have on our brain? II - HC  Marbella | HC Marbella International Hospital"/>
          <p:cNvPicPr preferRelativeResize="0"/>
          <p:nvPr/>
        </p:nvPicPr>
        <p:blipFill rotWithShape="1">
          <a:blip r:embed="rId3">
            <a:alphaModFix/>
          </a:blip>
          <a:srcRect r="1520" b="5309"/>
          <a:stretch/>
        </p:blipFill>
        <p:spPr>
          <a:xfrm>
            <a:off x="7772784" y="3431071"/>
            <a:ext cx="3430316" cy="2266740"/>
          </a:xfrm>
          <a:prstGeom prst="rect">
            <a:avLst/>
          </a:prstGeom>
          <a:noFill/>
          <a:ln>
            <a:noFill/>
          </a:ln>
        </p:spPr>
      </p:pic>
      <p:sp>
        <p:nvSpPr>
          <p:cNvPr id="300" name="Google Shape;300;p22"/>
          <p:cNvSpPr/>
          <p:nvPr/>
        </p:nvSpPr>
        <p:spPr>
          <a:xfrm rot="10800000">
            <a:off x="5381624" y="6209414"/>
            <a:ext cx="6810375" cy="648586"/>
          </a:xfrm>
          <a:custGeom>
            <a:avLst/>
            <a:gdLst/>
            <a:ahLst/>
            <a:cxnLst/>
            <a:rect l="l" t="t" r="r" b="b"/>
            <a:pathLst>
              <a:path w="10753706" h="1027260" extrusionOk="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9"/>
        <p:cNvGrpSpPr/>
        <p:nvPr/>
      </p:nvGrpSpPr>
      <p:grpSpPr>
        <a:xfrm>
          <a:off x="0" y="0"/>
          <a:ext cx="0" cy="0"/>
          <a:chOff x="0" y="0"/>
          <a:chExt cx="0" cy="0"/>
        </a:xfrm>
      </p:grpSpPr>
      <p:sp>
        <p:nvSpPr>
          <p:cNvPr id="320" name="Google Shape;320;p2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1" name="Google Shape;321;p24"/>
          <p:cNvSpPr txBox="1">
            <a:spLocks noGrp="1"/>
          </p:cNvSpPr>
          <p:nvPr>
            <p:ph type="title"/>
          </p:nvPr>
        </p:nvSpPr>
        <p:spPr>
          <a:xfrm>
            <a:off x="1629751" y="934327"/>
            <a:ext cx="8924392" cy="105827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F4862"/>
              </a:buClr>
              <a:buSzPts val="4400"/>
              <a:buFont typeface="Play"/>
              <a:buNone/>
            </a:pPr>
            <a:r>
              <a:rPr lang="en-US" b="1">
                <a:solidFill>
                  <a:srgbClr val="0F4862"/>
                </a:solidFill>
              </a:rPr>
              <a:t>Reference</a:t>
            </a:r>
            <a:endParaRPr>
              <a:solidFill>
                <a:srgbClr val="0F4862"/>
              </a:solidFill>
            </a:endParaRPr>
          </a:p>
        </p:txBody>
      </p:sp>
      <p:sp>
        <p:nvSpPr>
          <p:cNvPr id="322" name="Google Shape;322;p24"/>
          <p:cNvSpPr/>
          <p:nvPr/>
        </p:nvSpPr>
        <p:spPr>
          <a:xfrm>
            <a:off x="1293813" y="2337807"/>
            <a:ext cx="9604374" cy="3585866"/>
          </a:xfrm>
          <a:custGeom>
            <a:avLst/>
            <a:gdLst/>
            <a:ahLst/>
            <a:cxnLst/>
            <a:rect l="l" t="t" r="r" b="b"/>
            <a:pathLst>
              <a:path w="9604374" h="3585866" extrusionOk="0">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3" name="Google Shape;323;p24"/>
          <p:cNvSpPr/>
          <p:nvPr/>
        </p:nvSpPr>
        <p:spPr>
          <a:xfrm>
            <a:off x="5421727" y="2190741"/>
            <a:ext cx="1348547" cy="407804"/>
          </a:xfrm>
          <a:custGeom>
            <a:avLst/>
            <a:gdLst/>
            <a:ahLst/>
            <a:cxnLst/>
            <a:rect l="l" t="t" r="r" b="b"/>
            <a:pathLst>
              <a:path w="2201784" h="594531" extrusionOk="0">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4" name="Google Shape;324;p24"/>
          <p:cNvSpPr txBox="1">
            <a:spLocks noGrp="1"/>
          </p:cNvSpPr>
          <p:nvPr>
            <p:ph type="body" idx="1"/>
          </p:nvPr>
        </p:nvSpPr>
        <p:spPr>
          <a:xfrm>
            <a:off x="1941207" y="2752316"/>
            <a:ext cx="8309586" cy="275684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600"/>
              <a:buChar char="•"/>
            </a:pPr>
            <a:r>
              <a:rPr lang="en-US" sz="1600" u="sng">
                <a:solidFill>
                  <a:schemeClr val="hlink"/>
                </a:solidFill>
                <a:hlinkClick r:id="rId3"/>
              </a:rPr>
              <a:t>https://www.kaggle.com/datasets/catherinerasgaitis/mxmh-survey-results/data</a:t>
            </a:r>
            <a:endParaRPr sz="1600" u="sng">
              <a:solidFill>
                <a:schemeClr val="hlink"/>
              </a:solidFill>
              <a:hlinkClick r:id="rId3"/>
            </a:endParaRPr>
          </a:p>
          <a:p>
            <a:pPr marL="228600" lvl="0" indent="-228600" algn="l" rtl="0">
              <a:lnSpc>
                <a:spcPct val="90000"/>
              </a:lnSpc>
              <a:spcBef>
                <a:spcPts val="600"/>
              </a:spcBef>
              <a:spcAft>
                <a:spcPts val="0"/>
              </a:spcAft>
              <a:buClr>
                <a:schemeClr val="dk1"/>
              </a:buClr>
              <a:buSzPts val="1600"/>
              <a:buChar char="•"/>
            </a:pPr>
            <a:r>
              <a:rPr lang="en-US" sz="1600" u="sng">
                <a:solidFill>
                  <a:schemeClr val="hlink"/>
                </a:solidFill>
                <a:hlinkClick r:id="rId4"/>
              </a:rPr>
              <a:t>https://app7.legco.gov.hk/rpdb/en/uploads/2024/ISSH/ISSH11_2024_20240531_en.pdf</a:t>
            </a:r>
            <a:endParaRPr/>
          </a:p>
          <a:p>
            <a:pPr marL="228600" lvl="0" indent="-228600" algn="l" rtl="0">
              <a:lnSpc>
                <a:spcPct val="90000"/>
              </a:lnSpc>
              <a:spcBef>
                <a:spcPts val="600"/>
              </a:spcBef>
              <a:spcAft>
                <a:spcPts val="0"/>
              </a:spcAft>
              <a:buClr>
                <a:schemeClr val="dk1"/>
              </a:buClr>
              <a:buSzPts val="1600"/>
              <a:buChar char="•"/>
            </a:pPr>
            <a:r>
              <a:rPr lang="en-US" sz="1600" u="sng">
                <a:solidFill>
                  <a:schemeClr val="hlink"/>
                </a:solidFill>
                <a:hlinkClick r:id="rId5"/>
              </a:rPr>
              <a:t>https://www.healthbureau.gov.hk/download/press_and_publications/otherinfo/180500_mhr/e_mhr_full_report.pdf</a:t>
            </a:r>
            <a:endParaRPr/>
          </a:p>
          <a:p>
            <a:pPr marL="228600" lvl="0" indent="-228600" algn="l" rtl="0">
              <a:lnSpc>
                <a:spcPct val="90000"/>
              </a:lnSpc>
              <a:spcBef>
                <a:spcPts val="600"/>
              </a:spcBef>
              <a:spcAft>
                <a:spcPts val="0"/>
              </a:spcAft>
              <a:buClr>
                <a:schemeClr val="dk1"/>
              </a:buClr>
              <a:buSzPts val="1600"/>
              <a:buChar char="•"/>
            </a:pPr>
            <a:r>
              <a:rPr lang="en-US" sz="1600" u="sng">
                <a:solidFill>
                  <a:schemeClr val="hlink"/>
                </a:solidFill>
                <a:hlinkClick r:id="rId6"/>
              </a:rPr>
              <a:t>https://www.frontiersin.org/journals/psychology/articles/10.3389/fpsyg.2021.647756/pdf</a:t>
            </a:r>
            <a:endParaRPr sz="1600"/>
          </a:p>
          <a:p>
            <a:pPr marL="228600" lvl="0" indent="-228600" algn="l" rtl="0">
              <a:lnSpc>
                <a:spcPct val="90000"/>
              </a:lnSpc>
              <a:spcBef>
                <a:spcPts val="600"/>
              </a:spcBef>
              <a:spcAft>
                <a:spcPts val="0"/>
              </a:spcAft>
              <a:buClr>
                <a:schemeClr val="dk1"/>
              </a:buClr>
              <a:buSzPts val="1600"/>
              <a:buChar char="•"/>
            </a:pPr>
            <a:r>
              <a:rPr lang="en-US" sz="1600" u="sng">
                <a:solidFill>
                  <a:schemeClr val="hlink"/>
                </a:solidFill>
                <a:hlinkClick r:id="rId7"/>
              </a:rPr>
              <a:t>https://www.ifpi.org/wp-content/uploads/2023/12/IFPI-Engaging-With-Music-2023_full-report.pdf</a:t>
            </a:r>
            <a:endParaRPr sz="1600"/>
          </a:p>
          <a:p>
            <a:pPr marL="228600" lvl="0" indent="-228600" algn="l" rtl="0">
              <a:lnSpc>
                <a:spcPct val="90000"/>
              </a:lnSpc>
              <a:spcBef>
                <a:spcPts val="600"/>
              </a:spcBef>
              <a:spcAft>
                <a:spcPts val="0"/>
              </a:spcAft>
              <a:buClr>
                <a:schemeClr val="dk1"/>
              </a:buClr>
              <a:buSzPts val="1600"/>
              <a:buChar char="•"/>
            </a:pPr>
            <a:r>
              <a:rPr lang="en-US" sz="1600" u="sng">
                <a:solidFill>
                  <a:schemeClr val="hlink"/>
                </a:solidFill>
                <a:hlinkClick r:id="rId8"/>
              </a:rPr>
              <a:t>https://bora.uib.no/bora-xmlui/bitstream/handle/1956/17222/Master.pdf?sequence=1&amp;isAllowed=y</a:t>
            </a:r>
            <a:r>
              <a:rPr lang="en-US" sz="1600"/>
              <a:t> </a:t>
            </a:r>
            <a:endParaRPr sz="1600"/>
          </a:p>
          <a:p>
            <a:pPr marL="228600" lvl="0" indent="-127000" algn="l" rtl="0">
              <a:lnSpc>
                <a:spcPct val="90000"/>
              </a:lnSpc>
              <a:spcBef>
                <a:spcPts val="600"/>
              </a:spcBef>
              <a:spcAft>
                <a:spcPts val="0"/>
              </a:spcAft>
              <a:buClr>
                <a:schemeClr val="dk1"/>
              </a:buClr>
              <a:buSzPts val="1600"/>
              <a:buNone/>
            </a:pPr>
            <a:endParaRPr sz="1600"/>
          </a:p>
          <a:p>
            <a:pPr marL="228600" lvl="0" indent="-127000" algn="l" rtl="0">
              <a:lnSpc>
                <a:spcPct val="90000"/>
              </a:lnSpc>
              <a:spcBef>
                <a:spcPts val="600"/>
              </a:spcBef>
              <a:spcAft>
                <a:spcPts val="0"/>
              </a:spcAft>
              <a:buClr>
                <a:schemeClr val="dk1"/>
              </a:buClr>
              <a:buSzPts val="1600"/>
              <a:buNone/>
            </a:pPr>
            <a:endParaRPr sz="1600"/>
          </a:p>
        </p:txBody>
      </p:sp>
    </p:spTree>
  </p:cSld>
  <p:clrMapOvr>
    <a:masterClrMapping/>
  </p:clrMapOvr>
</p:sld>
</file>

<file path=ppt/theme/theme1.xml><?xml version="1.0" encoding="utf-8"?>
<a:theme xmlns:a="http://schemas.openxmlformats.org/drawingml/2006/main"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1566</Words>
  <Application>Microsoft Office PowerPoint</Application>
  <PresentationFormat>Widescreen</PresentationFormat>
  <Paragraphs>232</Paragraphs>
  <Slides>23</Slides>
  <Notes>23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9" baseType="lpstr">
      <vt:lpstr>Arial</vt:lpstr>
      <vt:lpstr>Play</vt:lpstr>
      <vt:lpstr>Noto Sans Symbols</vt:lpstr>
      <vt:lpstr>Courier New</vt:lpstr>
      <vt:lpstr>Office 佈景主題</vt:lpstr>
      <vt:lpstr>Microsoft Excel Macro-Enabled Worksheet</vt:lpstr>
      <vt:lpstr>A Coarse Study of Effect of Music on Mental Health </vt:lpstr>
      <vt:lpstr>Disclaimer</vt:lpstr>
      <vt:lpstr>Agenda</vt:lpstr>
      <vt:lpstr>Background</vt:lpstr>
      <vt:lpstr>Approach</vt:lpstr>
      <vt:lpstr>Introduction of Dataset</vt:lpstr>
      <vt:lpstr>Dataset Characteristics</vt:lpstr>
      <vt:lpstr>Dataset Characteristics  - Variable Identification (Data Type)</vt:lpstr>
      <vt:lpstr>Dataset Characteristics</vt:lpstr>
      <vt:lpstr>Data Cleansing – Null Value</vt:lpstr>
      <vt:lpstr>Data Cleansing – Irrelevant Data</vt:lpstr>
      <vt:lpstr>Data Cleansing – Erroneous Data/ Non-sense input</vt:lpstr>
      <vt:lpstr>Data Cleansing – Correlation Analysis</vt:lpstr>
      <vt:lpstr>Data Cleansing – Correlation Analysis (Adv)</vt:lpstr>
      <vt:lpstr>Data Cleansing – Correlation Analysis (Adv)</vt:lpstr>
      <vt:lpstr>Bivariate Analysis and Implications - Effect of Music Playing Duration on General Mental Health Improvement</vt:lpstr>
      <vt:lpstr>Multivariate Analysis and Implications - Effect of Music Playing Duration on Mental Health Disorder</vt:lpstr>
      <vt:lpstr>Bivariate Analysis and Implications - Relation of Music Genre and its Effect on General Mental State</vt:lpstr>
      <vt:lpstr>Multivariate Analysis and Implications - Effect of Music Engagement (Instruments / Composition) on Mental Health</vt:lpstr>
      <vt:lpstr>Bivariate Analysis and Implications - Relation of Music Genre Playing Frequency and Mental State</vt:lpstr>
      <vt:lpstr>Challenges and Limitations</vt:lpstr>
      <vt:lpstr>Conclusion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Kwan w</cp:lastModifiedBy>
  <cp:revision>1</cp:revision>
  <dcterms:created xsi:type="dcterms:W3CDTF">2025-07-27T15:27:40Z</dcterms:created>
  <dcterms:modified xsi:type="dcterms:W3CDTF">2026-03-14T10:23:12Z</dcterms:modified>
</cp:coreProperties>
</file>